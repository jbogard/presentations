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8"/>
  </p:notesMasterIdLst>
  <p:sldIdLst>
    <p:sldId id="274" r:id="rId2"/>
    <p:sldId id="311" r:id="rId3"/>
    <p:sldId id="312" r:id="rId4"/>
    <p:sldId id="313" r:id="rId5"/>
    <p:sldId id="314" r:id="rId6"/>
    <p:sldId id="315" r:id="rId7"/>
    <p:sldId id="316" r:id="rId8"/>
    <p:sldId id="317" r:id="rId9"/>
    <p:sldId id="318" r:id="rId10"/>
    <p:sldId id="319" r:id="rId11"/>
    <p:sldId id="320" r:id="rId12"/>
    <p:sldId id="321" r:id="rId13"/>
    <p:sldId id="322" r:id="rId14"/>
    <p:sldId id="323" r:id="rId15"/>
    <p:sldId id="324" r:id="rId16"/>
    <p:sldId id="325" r:id="rId17"/>
    <p:sldId id="326" r:id="rId18"/>
    <p:sldId id="327" r:id="rId19"/>
    <p:sldId id="328" r:id="rId20"/>
    <p:sldId id="329" r:id="rId21"/>
    <p:sldId id="330" r:id="rId22"/>
    <p:sldId id="331" r:id="rId23"/>
    <p:sldId id="332" r:id="rId24"/>
    <p:sldId id="333" r:id="rId25"/>
    <p:sldId id="334" r:id="rId26"/>
    <p:sldId id="310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36" autoAdjust="0"/>
    <p:restoredTop sz="87396" autoAdjust="0"/>
  </p:normalViewPr>
  <p:slideViewPr>
    <p:cSldViewPr snapToGrid="0">
      <p:cViewPr varScale="1">
        <p:scale>
          <a:sx n="100" d="100"/>
          <a:sy n="100" d="100"/>
        </p:scale>
        <p:origin x="184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11CBBD-FCCC-4341-9A07-9341F6C54581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856D82-A927-4CCE-B899-0E7A70652A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2834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42B9C4-3265-4C64-80EB-D0107FD0897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9795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856D82-A927-4CCE-B899-0E7A70652ABD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5399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42B9C4-3265-4C64-80EB-D0107FD08979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809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@</a:t>
            </a:r>
            <a:r>
              <a:rPr lang="en-US" dirty="0" err="1"/>
              <a:t>jimmybogard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0A104-0528-4A3E-8FC6-C371919B02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2537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B6C81F0-0529-442A-BBA4-FF8482FC0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@</a:t>
            </a:r>
            <a:r>
              <a:rPr lang="en-US" dirty="0" err="1"/>
              <a:t>jimmybogard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63BEE5-16B9-49FB-9796-1C1CEB98D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51E8C6-357B-4AB9-A339-CA29792E3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#NDCSydney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90905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@</a:t>
            </a:r>
            <a:r>
              <a:rPr lang="en-US" dirty="0" err="1"/>
              <a:t>jimmybogard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0A104-0528-4A3E-8FC6-C371919B02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2301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@</a:t>
            </a:r>
            <a:r>
              <a:rPr lang="en-US" dirty="0" err="1"/>
              <a:t>jimmybogard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0A104-0528-4A3E-8FC6-C371919B02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797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@</a:t>
            </a:r>
            <a:r>
              <a:rPr lang="en-US" dirty="0" err="1"/>
              <a:t>jimmybogard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0A104-0528-4A3E-8FC6-C371919B02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5406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@</a:t>
            </a:r>
            <a:r>
              <a:rPr lang="en-US" dirty="0" err="1"/>
              <a:t>jimmybogard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0A104-0528-4A3E-8FC6-C371919B02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654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@</a:t>
            </a:r>
            <a:r>
              <a:rPr lang="en-US" dirty="0" err="1"/>
              <a:t>jimmybogard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0A104-0528-4A3E-8FC6-C371919B02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4469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@</a:t>
            </a:r>
            <a:r>
              <a:rPr lang="en-US" dirty="0" err="1"/>
              <a:t>jimmybogard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0A104-0528-4A3E-8FC6-C371919B02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5758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@</a:t>
            </a:r>
            <a:r>
              <a:rPr lang="en-US" dirty="0" err="1"/>
              <a:t>jimmybogard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0A104-0528-4A3E-8FC6-C371919B02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5733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@</a:t>
            </a:r>
            <a:r>
              <a:rPr lang="en-US" dirty="0" err="1"/>
              <a:t>jimmybogard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0A104-0528-4A3E-8FC6-C371919B02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2209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@</a:t>
            </a:r>
            <a:r>
              <a:rPr lang="en-US" dirty="0" err="1"/>
              <a:t>jimmybogard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0A104-0528-4A3E-8FC6-C371919B02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8490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@</a:t>
            </a:r>
            <a:r>
              <a:rPr lang="en-US" dirty="0" err="1"/>
              <a:t>jimmybogard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#</a:t>
            </a:r>
            <a:r>
              <a:rPr lang="en-US" dirty="0" err="1"/>
              <a:t>NDCSydney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4716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3.xml"/><Relationship Id="rId7" Type="http://schemas.openxmlformats.org/officeDocument/2006/relationships/image" Target="../media/image2.tiff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1.png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5.svg"/><Relationship Id="rId7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5.svg"/><Relationship Id="rId7" Type="http://schemas.openxmlformats.org/officeDocument/2006/relationships/image" Target="../media/image11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png"/><Relationship Id="rId11" Type="http://schemas.openxmlformats.org/officeDocument/2006/relationships/image" Target="../media/image15.svg"/><Relationship Id="rId5" Type="http://schemas.openxmlformats.org/officeDocument/2006/relationships/image" Target="../media/image7.svg"/><Relationship Id="rId10" Type="http://schemas.openxmlformats.org/officeDocument/2006/relationships/image" Target="../media/image14.png"/><Relationship Id="rId4" Type="http://schemas.openxmlformats.org/officeDocument/2006/relationships/image" Target="../media/image6.png"/><Relationship Id="rId9" Type="http://schemas.openxmlformats.org/officeDocument/2006/relationships/image" Target="../media/image13.sv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5.svg"/><Relationship Id="rId7" Type="http://schemas.openxmlformats.org/officeDocument/2006/relationships/image" Target="../media/image11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png"/><Relationship Id="rId11" Type="http://schemas.openxmlformats.org/officeDocument/2006/relationships/image" Target="../media/image15.svg"/><Relationship Id="rId5" Type="http://schemas.openxmlformats.org/officeDocument/2006/relationships/image" Target="../media/image7.svg"/><Relationship Id="rId10" Type="http://schemas.openxmlformats.org/officeDocument/2006/relationships/image" Target="../media/image14.png"/><Relationship Id="rId4" Type="http://schemas.openxmlformats.org/officeDocument/2006/relationships/image" Target="../media/image6.png"/><Relationship Id="rId9" Type="http://schemas.openxmlformats.org/officeDocument/2006/relationships/image" Target="../media/image13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4.png"/><Relationship Id="rId7" Type="http://schemas.openxmlformats.org/officeDocument/2006/relationships/image" Target="../media/image10.png"/><Relationship Id="rId12" Type="http://schemas.openxmlformats.org/officeDocument/2006/relationships/image" Target="../media/image15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svg"/><Relationship Id="rId11" Type="http://schemas.openxmlformats.org/officeDocument/2006/relationships/image" Target="../media/image14.png"/><Relationship Id="rId5" Type="http://schemas.openxmlformats.org/officeDocument/2006/relationships/image" Target="../media/image6.png"/><Relationship Id="rId10" Type="http://schemas.openxmlformats.org/officeDocument/2006/relationships/image" Target="../media/image13.svg"/><Relationship Id="rId4" Type="http://schemas.openxmlformats.org/officeDocument/2006/relationships/image" Target="../media/image5.svg"/><Relationship Id="rId9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8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8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0" y="70969"/>
            <a:ext cx="12192000" cy="2387600"/>
          </a:xfrm>
        </p:spPr>
        <p:txBody>
          <a:bodyPr anchor="ctr">
            <a:noAutofit/>
          </a:bodyPr>
          <a:lstStyle/>
          <a:p>
            <a:r>
              <a:rPr lang="en-US" sz="6600" dirty="0">
                <a:solidFill>
                  <a:prstClr val="black"/>
                </a:solidFill>
              </a:rPr>
              <a:t>Demystifying Web API Security in Azure</a:t>
            </a:r>
            <a:endParaRPr lang="en-US" sz="4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2676052" y="2918077"/>
            <a:ext cx="6858000" cy="165576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Jimmy </a:t>
            </a:r>
            <a:r>
              <a:rPr lang="en-US" dirty="0" err="1"/>
              <a:t>Bogard</a:t>
            </a:r>
            <a:endParaRPr lang="en-US" dirty="0"/>
          </a:p>
          <a:p>
            <a:r>
              <a:rPr lang="en-US" dirty="0"/>
              <a:t>@</a:t>
            </a:r>
            <a:r>
              <a:rPr lang="en-US" dirty="0" err="1"/>
              <a:t>jimmybogard</a:t>
            </a:r>
            <a:endParaRPr lang="en-US" dirty="0"/>
          </a:p>
          <a:p>
            <a:r>
              <a:rPr lang="en-US" dirty="0"/>
              <a:t>github.com/</a:t>
            </a:r>
            <a:r>
              <a:rPr lang="en-US" dirty="0" err="1"/>
              <a:t>jbogard</a:t>
            </a:r>
            <a:endParaRPr lang="en-US" dirty="0"/>
          </a:p>
          <a:p>
            <a:r>
              <a:rPr lang="en-US" dirty="0" err="1"/>
              <a:t>jimmybogard.com</a:t>
            </a:r>
            <a:endParaRPr lang="en-US" dirty="0"/>
          </a:p>
        </p:txBody>
      </p:sp>
      <p:pic>
        <p:nvPicPr>
          <p:cNvPr id="12" name="Picture 12" descr="AutoMapper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8299" y="4809973"/>
            <a:ext cx="3733800" cy="3823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49172" y="5420546"/>
            <a:ext cx="1052054" cy="105205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44052E1-D98C-0B7C-72B1-D9306E2F7AD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3042" y="4908445"/>
            <a:ext cx="914400" cy="14478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308773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29D4F04-A566-A7CB-BBE1-D4C9A8CBA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simpler time…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C70C3A2-97BB-44B2-F51E-D609EDC702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3CAF48-A56F-836E-E5CA-0E1CA5215F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@</a:t>
            </a:r>
            <a:r>
              <a:rPr lang="en-US" dirty="0" err="1"/>
              <a:t>jimmybogard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12003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D5B41BF-EFD7-65F1-FD65-059FDA0CD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Client-Server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C48E2-BCE4-A14A-66C3-1CCF32B92F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@</a:t>
            </a:r>
            <a:r>
              <a:rPr lang="en-US" dirty="0" err="1"/>
              <a:t>jimmybogard</a:t>
            </a:r>
            <a:endParaRPr lang="en-US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764F7AB9-8347-4189-317C-0DE7F842CA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84064" y="2807017"/>
            <a:ext cx="1243965" cy="1243965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0F9270B-9BCF-0AB9-16C8-18CA4E0F080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49292" y="2807017"/>
            <a:ext cx="1243965" cy="1243965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1CDFF708-0C22-FCBF-4AC6-1DC98585B1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8835" y="2807017"/>
            <a:ext cx="1243965" cy="12439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CD94C6D-7DC1-2765-1510-FAF415B40184}"/>
              </a:ext>
            </a:extLst>
          </p:cNvPr>
          <p:cNvCxnSpPr>
            <a:stCxn id="7" idx="3"/>
            <a:endCxn id="9" idx="1"/>
          </p:cNvCxnSpPr>
          <p:nvPr/>
        </p:nvCxnSpPr>
        <p:spPr>
          <a:xfrm>
            <a:off x="6328029" y="3429000"/>
            <a:ext cx="1821263" cy="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0721F14-566F-E0B5-CF8F-E8563F562ACF}"/>
              </a:ext>
            </a:extLst>
          </p:cNvPr>
          <p:cNvCxnSpPr>
            <a:cxnSpLocks/>
            <a:stCxn id="1026" idx="3"/>
            <a:endCxn id="7" idx="1"/>
          </p:cNvCxnSpPr>
          <p:nvPr/>
        </p:nvCxnSpPr>
        <p:spPr>
          <a:xfrm>
            <a:off x="3262800" y="3429000"/>
            <a:ext cx="1821264" cy="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B3CDF729-10B9-42DA-6467-0953BA99A9BE}"/>
              </a:ext>
            </a:extLst>
          </p:cNvPr>
          <p:cNvSpPr txBox="1"/>
          <p:nvPr/>
        </p:nvSpPr>
        <p:spPr>
          <a:xfrm>
            <a:off x="1980329" y="4050982"/>
            <a:ext cx="12824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Client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A805DAC-B5FF-4C94-9724-CA066E455D8D}"/>
              </a:ext>
            </a:extLst>
          </p:cNvPr>
          <p:cNvSpPr txBox="1"/>
          <p:nvPr/>
        </p:nvSpPr>
        <p:spPr>
          <a:xfrm>
            <a:off x="5064810" y="4050982"/>
            <a:ext cx="12824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Server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5006A36-2038-2874-44C8-C156D1D29D19}"/>
              </a:ext>
            </a:extLst>
          </p:cNvPr>
          <p:cNvSpPr txBox="1"/>
          <p:nvPr/>
        </p:nvSpPr>
        <p:spPr>
          <a:xfrm>
            <a:off x="8110786" y="3992640"/>
            <a:ext cx="12824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DB</a:t>
            </a:r>
          </a:p>
        </p:txBody>
      </p:sp>
    </p:spTree>
    <p:extLst>
      <p:ext uri="{BB962C8B-B14F-4D97-AF65-F5344CB8AC3E}">
        <p14:creationId xmlns:p14="http://schemas.microsoft.com/office/powerpoint/2010/main" val="33907660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D5B41BF-EFD7-65F1-FD65-059FDA0CD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Client-Server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C48E2-BCE4-A14A-66C3-1CCF32B92F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@</a:t>
            </a:r>
            <a:r>
              <a:rPr lang="en-US" dirty="0" err="1"/>
              <a:t>jimmybogard</a:t>
            </a:r>
            <a:endParaRPr lang="en-US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764F7AB9-8347-4189-317C-0DE7F842CA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84064" y="2807017"/>
            <a:ext cx="1243965" cy="1243965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0F9270B-9BCF-0AB9-16C8-18CA4E0F080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49292" y="2807017"/>
            <a:ext cx="1243965" cy="1243965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1CDFF708-0C22-FCBF-4AC6-1DC98585B1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8835" y="2807017"/>
            <a:ext cx="1243965" cy="12439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CD94C6D-7DC1-2765-1510-FAF415B40184}"/>
              </a:ext>
            </a:extLst>
          </p:cNvPr>
          <p:cNvCxnSpPr>
            <a:stCxn id="7" idx="3"/>
            <a:endCxn id="9" idx="1"/>
          </p:cNvCxnSpPr>
          <p:nvPr/>
        </p:nvCxnSpPr>
        <p:spPr>
          <a:xfrm>
            <a:off x="6328029" y="3429000"/>
            <a:ext cx="1821263" cy="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0721F14-566F-E0B5-CF8F-E8563F562ACF}"/>
              </a:ext>
            </a:extLst>
          </p:cNvPr>
          <p:cNvCxnSpPr>
            <a:cxnSpLocks/>
            <a:stCxn id="1026" idx="3"/>
            <a:endCxn id="7" idx="1"/>
          </p:cNvCxnSpPr>
          <p:nvPr/>
        </p:nvCxnSpPr>
        <p:spPr>
          <a:xfrm>
            <a:off x="3262800" y="3429000"/>
            <a:ext cx="1821264" cy="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B3CDF729-10B9-42DA-6467-0953BA99A9BE}"/>
              </a:ext>
            </a:extLst>
          </p:cNvPr>
          <p:cNvSpPr txBox="1"/>
          <p:nvPr/>
        </p:nvSpPr>
        <p:spPr>
          <a:xfrm>
            <a:off x="1980329" y="4050982"/>
            <a:ext cx="12824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Client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A805DAC-B5FF-4C94-9724-CA066E455D8D}"/>
              </a:ext>
            </a:extLst>
          </p:cNvPr>
          <p:cNvSpPr txBox="1"/>
          <p:nvPr/>
        </p:nvSpPr>
        <p:spPr>
          <a:xfrm>
            <a:off x="5064810" y="4050982"/>
            <a:ext cx="12824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Server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5006A36-2038-2874-44C8-C156D1D29D19}"/>
              </a:ext>
            </a:extLst>
          </p:cNvPr>
          <p:cNvSpPr txBox="1"/>
          <p:nvPr/>
        </p:nvSpPr>
        <p:spPr>
          <a:xfrm>
            <a:off x="8110786" y="3992640"/>
            <a:ext cx="12824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DB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2055062-2E48-A639-5A72-0E0892A5E7EC}"/>
              </a:ext>
            </a:extLst>
          </p:cNvPr>
          <p:cNvCxnSpPr>
            <a:cxnSpLocks/>
          </p:cNvCxnSpPr>
          <p:nvPr/>
        </p:nvCxnSpPr>
        <p:spPr>
          <a:xfrm>
            <a:off x="4174889" y="2184110"/>
            <a:ext cx="0" cy="4263716"/>
          </a:xfrm>
          <a:prstGeom prst="line">
            <a:avLst/>
          </a:prstGeom>
          <a:ln w="3810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8A6F7AEA-39E0-AD99-F2DF-8B375EF26BFB}"/>
              </a:ext>
            </a:extLst>
          </p:cNvPr>
          <p:cNvSpPr txBox="1"/>
          <p:nvPr/>
        </p:nvSpPr>
        <p:spPr>
          <a:xfrm>
            <a:off x="1667691" y="5802352"/>
            <a:ext cx="14308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Internet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06438F5-B0E6-BC7A-3CE7-DE7BAA72887B}"/>
              </a:ext>
            </a:extLst>
          </p:cNvPr>
          <p:cNvSpPr txBox="1"/>
          <p:nvPr/>
        </p:nvSpPr>
        <p:spPr>
          <a:xfrm>
            <a:off x="6523250" y="5802352"/>
            <a:ext cx="14308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Azure</a:t>
            </a:r>
          </a:p>
        </p:txBody>
      </p:sp>
    </p:spTree>
    <p:extLst>
      <p:ext uri="{BB962C8B-B14F-4D97-AF65-F5344CB8AC3E}">
        <p14:creationId xmlns:p14="http://schemas.microsoft.com/office/powerpoint/2010/main" val="8566179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D5B41BF-EFD7-65F1-FD65-059FDA0CD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Client-Server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C48E2-BCE4-A14A-66C3-1CCF32B92F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@</a:t>
            </a:r>
            <a:r>
              <a:rPr lang="en-US" dirty="0" err="1"/>
              <a:t>jimmybogard</a:t>
            </a:r>
            <a:endParaRPr lang="en-US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764F7AB9-8347-4189-317C-0DE7F842CA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84064" y="2807017"/>
            <a:ext cx="1243965" cy="1243965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0F9270B-9BCF-0AB9-16C8-18CA4E0F080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49292" y="2807017"/>
            <a:ext cx="1243965" cy="1243965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1CDFF708-0C22-FCBF-4AC6-1DC98585B1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8835" y="2807017"/>
            <a:ext cx="1243965" cy="12439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CD94C6D-7DC1-2765-1510-FAF415B40184}"/>
              </a:ext>
            </a:extLst>
          </p:cNvPr>
          <p:cNvCxnSpPr>
            <a:stCxn id="7" idx="3"/>
            <a:endCxn id="9" idx="1"/>
          </p:cNvCxnSpPr>
          <p:nvPr/>
        </p:nvCxnSpPr>
        <p:spPr>
          <a:xfrm>
            <a:off x="6328029" y="3429000"/>
            <a:ext cx="1821263" cy="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0721F14-566F-E0B5-CF8F-E8563F562ACF}"/>
              </a:ext>
            </a:extLst>
          </p:cNvPr>
          <p:cNvCxnSpPr>
            <a:cxnSpLocks/>
            <a:stCxn id="1026" idx="3"/>
            <a:endCxn id="7" idx="1"/>
          </p:cNvCxnSpPr>
          <p:nvPr/>
        </p:nvCxnSpPr>
        <p:spPr>
          <a:xfrm>
            <a:off x="3262800" y="3429000"/>
            <a:ext cx="1821264" cy="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B3CDF729-10B9-42DA-6467-0953BA99A9BE}"/>
              </a:ext>
            </a:extLst>
          </p:cNvPr>
          <p:cNvSpPr txBox="1"/>
          <p:nvPr/>
        </p:nvSpPr>
        <p:spPr>
          <a:xfrm>
            <a:off x="1980329" y="4050982"/>
            <a:ext cx="12824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Client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A805DAC-B5FF-4C94-9724-CA066E455D8D}"/>
              </a:ext>
            </a:extLst>
          </p:cNvPr>
          <p:cNvSpPr txBox="1"/>
          <p:nvPr/>
        </p:nvSpPr>
        <p:spPr>
          <a:xfrm>
            <a:off x="5064810" y="4050982"/>
            <a:ext cx="12824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Server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5006A36-2038-2874-44C8-C156D1D29D19}"/>
              </a:ext>
            </a:extLst>
          </p:cNvPr>
          <p:cNvSpPr txBox="1"/>
          <p:nvPr/>
        </p:nvSpPr>
        <p:spPr>
          <a:xfrm>
            <a:off x="8110786" y="3992640"/>
            <a:ext cx="12824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DB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2055062-2E48-A639-5A72-0E0892A5E7EC}"/>
              </a:ext>
            </a:extLst>
          </p:cNvPr>
          <p:cNvCxnSpPr>
            <a:cxnSpLocks/>
          </p:cNvCxnSpPr>
          <p:nvPr/>
        </p:nvCxnSpPr>
        <p:spPr>
          <a:xfrm>
            <a:off x="4174889" y="2184110"/>
            <a:ext cx="0" cy="4263716"/>
          </a:xfrm>
          <a:prstGeom prst="line">
            <a:avLst/>
          </a:prstGeom>
          <a:ln w="3810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8A6F7AEA-39E0-AD99-F2DF-8B375EF26BFB}"/>
              </a:ext>
            </a:extLst>
          </p:cNvPr>
          <p:cNvSpPr txBox="1"/>
          <p:nvPr/>
        </p:nvSpPr>
        <p:spPr>
          <a:xfrm>
            <a:off x="1667691" y="5802352"/>
            <a:ext cx="14308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Internet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06438F5-B0E6-BC7A-3CE7-DE7BAA72887B}"/>
              </a:ext>
            </a:extLst>
          </p:cNvPr>
          <p:cNvSpPr txBox="1"/>
          <p:nvPr/>
        </p:nvSpPr>
        <p:spPr>
          <a:xfrm>
            <a:off x="6523250" y="5802352"/>
            <a:ext cx="14308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Azure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08EC6E5-C5C2-39AC-9179-A3D082FEEB2E}"/>
              </a:ext>
            </a:extLst>
          </p:cNvPr>
          <p:cNvSpPr txBox="1"/>
          <p:nvPr/>
        </p:nvSpPr>
        <p:spPr>
          <a:xfrm>
            <a:off x="2640817" y="2437223"/>
            <a:ext cx="14308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.COREAUTH</a:t>
            </a:r>
          </a:p>
        </p:txBody>
      </p:sp>
    </p:spTree>
    <p:extLst>
      <p:ext uri="{BB962C8B-B14F-4D97-AF65-F5344CB8AC3E}">
        <p14:creationId xmlns:p14="http://schemas.microsoft.com/office/powerpoint/2010/main" val="15284615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29D4F04-A566-A7CB-BBE1-D4C9A8CBA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Simplifying via Microservices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C70C3A2-97BB-44B2-F51E-D609EDC702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3CAF48-A56F-836E-E5CA-0E1CA5215F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@</a:t>
            </a:r>
            <a:r>
              <a:rPr lang="en-US" dirty="0" err="1"/>
              <a:t>jimmybogard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29014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E831759A-6292-1819-00C1-3E64A4917377}"/>
              </a:ext>
            </a:extLst>
          </p:cNvPr>
          <p:cNvSpPr/>
          <p:nvPr/>
        </p:nvSpPr>
        <p:spPr>
          <a:xfrm>
            <a:off x="4995618" y="5225201"/>
            <a:ext cx="2346088" cy="1131149"/>
          </a:xfrm>
          <a:prstGeom prst="rect">
            <a:avLst/>
          </a:prstGeom>
          <a:ln w="190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b"/>
          <a:lstStyle/>
          <a:p>
            <a:r>
              <a:rPr lang="en-US" dirty="0"/>
              <a:t>Microservice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2DB1C83-FC3E-F9F4-16CC-1D00D97A5A8E}"/>
              </a:ext>
            </a:extLst>
          </p:cNvPr>
          <p:cNvSpPr/>
          <p:nvPr/>
        </p:nvSpPr>
        <p:spPr>
          <a:xfrm>
            <a:off x="4995618" y="3429000"/>
            <a:ext cx="2346088" cy="1131149"/>
          </a:xfrm>
          <a:prstGeom prst="rect">
            <a:avLst/>
          </a:prstGeom>
          <a:ln w="190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b"/>
          <a:lstStyle/>
          <a:p>
            <a:r>
              <a:rPr lang="en-US" dirty="0"/>
              <a:t>Microservice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3BC4F2A-6076-6FBC-C172-8408F3BF929F}"/>
              </a:ext>
            </a:extLst>
          </p:cNvPr>
          <p:cNvSpPr/>
          <p:nvPr/>
        </p:nvSpPr>
        <p:spPr>
          <a:xfrm>
            <a:off x="4995618" y="1879955"/>
            <a:ext cx="2346088" cy="1131149"/>
          </a:xfrm>
          <a:prstGeom prst="rect">
            <a:avLst/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b"/>
          <a:lstStyle/>
          <a:p>
            <a:r>
              <a:rPr lang="en-US" dirty="0"/>
              <a:t>Microservice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D5B41BF-EFD7-65F1-FD65-059FDA0CD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Distributed Complexity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C48E2-BCE4-A14A-66C3-1CCF32B92F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@</a:t>
            </a:r>
            <a:r>
              <a:rPr lang="en-US" dirty="0" err="1"/>
              <a:t>jimmybogard</a:t>
            </a:r>
            <a:endParaRPr lang="en-US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764F7AB9-8347-4189-317C-0DE7F842CA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23004" y="3260744"/>
            <a:ext cx="615812" cy="615812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0F9270B-9BCF-0AB9-16C8-18CA4E0F080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18920" y="1977397"/>
            <a:ext cx="615813" cy="615813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1CDFF708-0C22-FCBF-4AC6-1DC98585B1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257659"/>
            <a:ext cx="621982" cy="6219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3CDF729-10B9-42DA-6467-0953BA99A9BE}"/>
              </a:ext>
            </a:extLst>
          </p:cNvPr>
          <p:cNvSpPr txBox="1"/>
          <p:nvPr/>
        </p:nvSpPr>
        <p:spPr>
          <a:xfrm>
            <a:off x="507955" y="3911299"/>
            <a:ext cx="12824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Client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A805DAC-B5FF-4C94-9724-CA066E455D8D}"/>
              </a:ext>
            </a:extLst>
          </p:cNvPr>
          <p:cNvSpPr txBox="1"/>
          <p:nvPr/>
        </p:nvSpPr>
        <p:spPr>
          <a:xfrm>
            <a:off x="2945564" y="3903741"/>
            <a:ext cx="12824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BFF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2055062-2E48-A639-5A72-0E0892A5E7EC}"/>
              </a:ext>
            </a:extLst>
          </p:cNvPr>
          <p:cNvCxnSpPr>
            <a:cxnSpLocks/>
          </p:cNvCxnSpPr>
          <p:nvPr/>
        </p:nvCxnSpPr>
        <p:spPr>
          <a:xfrm>
            <a:off x="2549870" y="2250094"/>
            <a:ext cx="0" cy="4263716"/>
          </a:xfrm>
          <a:prstGeom prst="line">
            <a:avLst/>
          </a:prstGeom>
          <a:ln w="3810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8A6F7AEA-39E0-AD99-F2DF-8B375EF26BFB}"/>
              </a:ext>
            </a:extLst>
          </p:cNvPr>
          <p:cNvSpPr txBox="1"/>
          <p:nvPr/>
        </p:nvSpPr>
        <p:spPr>
          <a:xfrm>
            <a:off x="433780" y="5729832"/>
            <a:ext cx="14308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Internet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06438F5-B0E6-BC7A-3CE7-DE7BAA72887B}"/>
              </a:ext>
            </a:extLst>
          </p:cNvPr>
          <p:cNvSpPr txBox="1"/>
          <p:nvPr/>
        </p:nvSpPr>
        <p:spPr>
          <a:xfrm>
            <a:off x="3002092" y="5729832"/>
            <a:ext cx="14308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Azure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F5BF9BE2-EDA3-0D05-52B0-ADFB55A4DA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21203" y="1977397"/>
            <a:ext cx="615812" cy="615812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B66ABFB0-5F93-3166-0B7D-CF70051C8A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21203" y="3626541"/>
            <a:ext cx="615812" cy="615812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56648519-C659-1488-C617-E8564ED025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18920" y="3626540"/>
            <a:ext cx="615813" cy="615813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E9D5EAAF-D0E7-50DF-99FA-08E6D4180D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21203" y="5344261"/>
            <a:ext cx="615812" cy="615812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1B98D1C4-243E-7778-AAC7-600ED48453B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18920" y="5344260"/>
            <a:ext cx="615813" cy="615813"/>
          </a:xfrm>
          <a:prstGeom prst="rect">
            <a:avLst/>
          </a:prstGeom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1234C30-66F1-4FE2-5451-5360FDE12C55}"/>
              </a:ext>
            </a:extLst>
          </p:cNvPr>
          <p:cNvCxnSpPr>
            <a:cxnSpLocks/>
          </p:cNvCxnSpPr>
          <p:nvPr/>
        </p:nvCxnSpPr>
        <p:spPr>
          <a:xfrm>
            <a:off x="8496953" y="2285303"/>
            <a:ext cx="0" cy="4263716"/>
          </a:xfrm>
          <a:prstGeom prst="line">
            <a:avLst/>
          </a:prstGeom>
          <a:ln w="3810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27" name="Graphic 26">
            <a:extLst>
              <a:ext uri="{FF2B5EF4-FFF2-40B4-BE49-F238E27FC236}">
                <a16:creationId xmlns:a16="http://schemas.microsoft.com/office/drawing/2014/main" id="{C73CF71D-8E9B-B926-511C-8F9257903BB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994746" y="2137623"/>
            <a:ext cx="615812" cy="615812"/>
          </a:xfrm>
          <a:prstGeom prst="rect">
            <a:avLst/>
          </a:prstGeom>
        </p:spPr>
      </p:pic>
      <p:pic>
        <p:nvPicPr>
          <p:cNvPr id="28" name="Graphic 27">
            <a:extLst>
              <a:ext uri="{FF2B5EF4-FFF2-40B4-BE49-F238E27FC236}">
                <a16:creationId xmlns:a16="http://schemas.microsoft.com/office/drawing/2014/main" id="{6A3B6478-F876-9365-1C1B-C331D3AB7A0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994746" y="3493516"/>
            <a:ext cx="615812" cy="615812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6F580091-B6C7-A9EC-1EBC-7682672D3BC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994746" y="4849409"/>
            <a:ext cx="615812" cy="615812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24314013-6D24-CF46-C749-A57012574F32}"/>
              </a:ext>
            </a:extLst>
          </p:cNvPr>
          <p:cNvSpPr txBox="1"/>
          <p:nvPr/>
        </p:nvSpPr>
        <p:spPr>
          <a:xfrm>
            <a:off x="8530440" y="5733619"/>
            <a:ext cx="14308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On-Prem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0E022FCF-345B-B516-2113-8E9B78994BF5}"/>
              </a:ext>
            </a:extLst>
          </p:cNvPr>
          <p:cNvCxnSpPr>
            <a:cxnSpLocks/>
            <a:stCxn id="1026" idx="3"/>
            <a:endCxn id="7" idx="1"/>
          </p:cNvCxnSpPr>
          <p:nvPr/>
        </p:nvCxnSpPr>
        <p:spPr>
          <a:xfrm>
            <a:off x="1460182" y="3568650"/>
            <a:ext cx="1862822" cy="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C188C595-0D33-4F35-9961-5FA5AC71CBC5}"/>
              </a:ext>
            </a:extLst>
          </p:cNvPr>
          <p:cNvCxnSpPr>
            <a:cxnSpLocks/>
            <a:stCxn id="14" idx="3"/>
            <a:endCxn id="9" idx="1"/>
          </p:cNvCxnSpPr>
          <p:nvPr/>
        </p:nvCxnSpPr>
        <p:spPr>
          <a:xfrm>
            <a:off x="5937015" y="2285303"/>
            <a:ext cx="481905" cy="1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C4A103EC-27F4-7020-9AC6-D94861778344}"/>
              </a:ext>
            </a:extLst>
          </p:cNvPr>
          <p:cNvCxnSpPr>
            <a:cxnSpLocks/>
            <a:stCxn id="18" idx="3"/>
            <a:endCxn id="19" idx="1"/>
          </p:cNvCxnSpPr>
          <p:nvPr/>
        </p:nvCxnSpPr>
        <p:spPr>
          <a:xfrm>
            <a:off x="5937015" y="3934447"/>
            <a:ext cx="481905" cy="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9BAAE785-8B0E-E470-5CAB-AE415F4B1CB1}"/>
              </a:ext>
            </a:extLst>
          </p:cNvPr>
          <p:cNvCxnSpPr>
            <a:cxnSpLocks/>
            <a:stCxn id="20" idx="3"/>
            <a:endCxn id="21" idx="1"/>
          </p:cNvCxnSpPr>
          <p:nvPr/>
        </p:nvCxnSpPr>
        <p:spPr>
          <a:xfrm>
            <a:off x="5937015" y="5652167"/>
            <a:ext cx="481905" cy="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E3BEBF32-B351-69C0-27D8-6DA2206E83B8}"/>
              </a:ext>
            </a:extLst>
          </p:cNvPr>
          <p:cNvCxnSpPr>
            <a:stCxn id="7" idx="3"/>
            <a:endCxn id="14" idx="1"/>
          </p:cNvCxnSpPr>
          <p:nvPr/>
        </p:nvCxnSpPr>
        <p:spPr>
          <a:xfrm flipV="1">
            <a:off x="3938816" y="2285303"/>
            <a:ext cx="1382387" cy="1283347"/>
          </a:xfrm>
          <a:prstGeom prst="bentConnector3">
            <a:avLst/>
          </a:prstGeom>
          <a:ln w="3810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0907A049-22FE-5B5D-F5FD-CC23B84175B3}"/>
              </a:ext>
            </a:extLst>
          </p:cNvPr>
          <p:cNvCxnSpPr>
            <a:cxnSpLocks/>
            <a:stCxn id="7" idx="3"/>
            <a:endCxn id="18" idx="1"/>
          </p:cNvCxnSpPr>
          <p:nvPr/>
        </p:nvCxnSpPr>
        <p:spPr>
          <a:xfrm>
            <a:off x="3938816" y="3568650"/>
            <a:ext cx="1382387" cy="365797"/>
          </a:xfrm>
          <a:prstGeom prst="bentConnector3">
            <a:avLst/>
          </a:prstGeom>
          <a:ln w="3810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E61E86A2-B155-68F0-DAE1-22CB712260A2}"/>
              </a:ext>
            </a:extLst>
          </p:cNvPr>
          <p:cNvCxnSpPr>
            <a:cxnSpLocks/>
            <a:stCxn id="7" idx="3"/>
            <a:endCxn id="20" idx="1"/>
          </p:cNvCxnSpPr>
          <p:nvPr/>
        </p:nvCxnSpPr>
        <p:spPr>
          <a:xfrm>
            <a:off x="3938816" y="3568650"/>
            <a:ext cx="1382387" cy="2083517"/>
          </a:xfrm>
          <a:prstGeom prst="bentConnector3">
            <a:avLst/>
          </a:prstGeom>
          <a:ln w="3810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FB3006C4-ED89-9253-9641-1D750D8236F9}"/>
              </a:ext>
            </a:extLst>
          </p:cNvPr>
          <p:cNvCxnSpPr>
            <a:cxnSpLocks/>
            <a:stCxn id="27" idx="1"/>
            <a:endCxn id="14" idx="0"/>
          </p:cNvCxnSpPr>
          <p:nvPr/>
        </p:nvCxnSpPr>
        <p:spPr>
          <a:xfrm rot="10800000">
            <a:off x="5629110" y="1977397"/>
            <a:ext cx="4365637" cy="468132"/>
          </a:xfrm>
          <a:prstGeom prst="bentConnector4">
            <a:avLst>
              <a:gd name="adj1" fmla="val 46474"/>
              <a:gd name="adj2" fmla="val 148832"/>
            </a:avLst>
          </a:prstGeom>
          <a:ln w="3810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Connector: Elbow 54">
            <a:extLst>
              <a:ext uri="{FF2B5EF4-FFF2-40B4-BE49-F238E27FC236}">
                <a16:creationId xmlns:a16="http://schemas.microsoft.com/office/drawing/2014/main" id="{46C40DC7-ED8E-287C-76F7-91705B324435}"/>
              </a:ext>
            </a:extLst>
          </p:cNvPr>
          <p:cNvCxnSpPr>
            <a:cxnSpLocks/>
            <a:stCxn id="28" idx="1"/>
            <a:endCxn id="18" idx="0"/>
          </p:cNvCxnSpPr>
          <p:nvPr/>
        </p:nvCxnSpPr>
        <p:spPr>
          <a:xfrm rot="10800000">
            <a:off x="5629110" y="3626542"/>
            <a:ext cx="4365637" cy="174881"/>
          </a:xfrm>
          <a:prstGeom prst="bentConnector4">
            <a:avLst>
              <a:gd name="adj1" fmla="val 46474"/>
              <a:gd name="adj2" fmla="val 326328"/>
            </a:avLst>
          </a:prstGeom>
          <a:ln w="3810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Connector: Elbow 58">
            <a:extLst>
              <a:ext uri="{FF2B5EF4-FFF2-40B4-BE49-F238E27FC236}">
                <a16:creationId xmlns:a16="http://schemas.microsoft.com/office/drawing/2014/main" id="{A9E9000A-EAFD-CDBD-E63C-35F1808077FC}"/>
              </a:ext>
            </a:extLst>
          </p:cNvPr>
          <p:cNvCxnSpPr>
            <a:cxnSpLocks/>
            <a:stCxn id="29" idx="1"/>
            <a:endCxn id="20" idx="0"/>
          </p:cNvCxnSpPr>
          <p:nvPr/>
        </p:nvCxnSpPr>
        <p:spPr>
          <a:xfrm rot="10800000" flipV="1">
            <a:off x="5629110" y="5157315"/>
            <a:ext cx="4365637" cy="186946"/>
          </a:xfrm>
          <a:prstGeom prst="bentConnector2">
            <a:avLst/>
          </a:prstGeom>
          <a:ln w="3810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51958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29D4F04-A566-A7CB-BBE1-D4C9A8CBA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Authenticate and Authorize external users?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C70C3A2-97BB-44B2-F51E-D609EDC702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3CAF48-A56F-836E-E5CA-0E1CA5215F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@</a:t>
            </a:r>
            <a:r>
              <a:rPr lang="en-US" dirty="0" err="1"/>
              <a:t>jimmybogard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8097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E831759A-6292-1819-00C1-3E64A4917377}"/>
              </a:ext>
            </a:extLst>
          </p:cNvPr>
          <p:cNvSpPr/>
          <p:nvPr/>
        </p:nvSpPr>
        <p:spPr>
          <a:xfrm>
            <a:off x="4995618" y="5225201"/>
            <a:ext cx="2346088" cy="1131149"/>
          </a:xfrm>
          <a:prstGeom prst="rect">
            <a:avLst/>
          </a:prstGeom>
          <a:ln w="190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b"/>
          <a:lstStyle/>
          <a:p>
            <a:r>
              <a:rPr lang="en-US" dirty="0"/>
              <a:t>Microservice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2DB1C83-FC3E-F9F4-16CC-1D00D97A5A8E}"/>
              </a:ext>
            </a:extLst>
          </p:cNvPr>
          <p:cNvSpPr/>
          <p:nvPr/>
        </p:nvSpPr>
        <p:spPr>
          <a:xfrm>
            <a:off x="4995618" y="3429000"/>
            <a:ext cx="2346088" cy="1131149"/>
          </a:xfrm>
          <a:prstGeom prst="rect">
            <a:avLst/>
          </a:prstGeom>
          <a:ln w="190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b"/>
          <a:lstStyle/>
          <a:p>
            <a:r>
              <a:rPr lang="en-US" dirty="0"/>
              <a:t>Microservice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3BC4F2A-6076-6FBC-C172-8408F3BF929F}"/>
              </a:ext>
            </a:extLst>
          </p:cNvPr>
          <p:cNvSpPr/>
          <p:nvPr/>
        </p:nvSpPr>
        <p:spPr>
          <a:xfrm>
            <a:off x="4995618" y="1879955"/>
            <a:ext cx="2346088" cy="1131149"/>
          </a:xfrm>
          <a:prstGeom prst="rect">
            <a:avLst/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b"/>
          <a:lstStyle/>
          <a:p>
            <a:r>
              <a:rPr lang="en-US" dirty="0"/>
              <a:t>Microservice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D5B41BF-EFD7-65F1-FD65-059FDA0CD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External Identity Provider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C48E2-BCE4-A14A-66C3-1CCF32B92F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@</a:t>
            </a:r>
            <a:r>
              <a:rPr lang="en-US" dirty="0" err="1"/>
              <a:t>jimmybogard</a:t>
            </a:r>
            <a:endParaRPr lang="en-US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764F7AB9-8347-4189-317C-0DE7F842CA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23004" y="3260744"/>
            <a:ext cx="615812" cy="615812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0F9270B-9BCF-0AB9-16C8-18CA4E0F080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18920" y="1977397"/>
            <a:ext cx="615813" cy="61581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3CDF729-10B9-42DA-6467-0953BA99A9BE}"/>
              </a:ext>
            </a:extLst>
          </p:cNvPr>
          <p:cNvSpPr txBox="1"/>
          <p:nvPr/>
        </p:nvSpPr>
        <p:spPr>
          <a:xfrm>
            <a:off x="196964" y="4695636"/>
            <a:ext cx="12824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Auth0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A805DAC-B5FF-4C94-9724-CA066E455D8D}"/>
              </a:ext>
            </a:extLst>
          </p:cNvPr>
          <p:cNvSpPr txBox="1"/>
          <p:nvPr/>
        </p:nvSpPr>
        <p:spPr>
          <a:xfrm>
            <a:off x="2945564" y="3903741"/>
            <a:ext cx="12824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BFF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2055062-2E48-A639-5A72-0E0892A5E7EC}"/>
              </a:ext>
            </a:extLst>
          </p:cNvPr>
          <p:cNvCxnSpPr>
            <a:cxnSpLocks/>
          </p:cNvCxnSpPr>
          <p:nvPr/>
        </p:nvCxnSpPr>
        <p:spPr>
          <a:xfrm>
            <a:off x="2549870" y="2250094"/>
            <a:ext cx="0" cy="4263716"/>
          </a:xfrm>
          <a:prstGeom prst="line">
            <a:avLst/>
          </a:prstGeom>
          <a:ln w="3810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8A6F7AEA-39E0-AD99-F2DF-8B375EF26BFB}"/>
              </a:ext>
            </a:extLst>
          </p:cNvPr>
          <p:cNvSpPr txBox="1"/>
          <p:nvPr/>
        </p:nvSpPr>
        <p:spPr>
          <a:xfrm>
            <a:off x="433780" y="5729832"/>
            <a:ext cx="14308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Internet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06438F5-B0E6-BC7A-3CE7-DE7BAA72887B}"/>
              </a:ext>
            </a:extLst>
          </p:cNvPr>
          <p:cNvSpPr txBox="1"/>
          <p:nvPr/>
        </p:nvSpPr>
        <p:spPr>
          <a:xfrm>
            <a:off x="3002092" y="5729832"/>
            <a:ext cx="14308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Azure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F5BF9BE2-EDA3-0D05-52B0-ADFB55A4DA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21203" y="1977397"/>
            <a:ext cx="615812" cy="615812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B66ABFB0-5F93-3166-0B7D-CF70051C8A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21203" y="3626541"/>
            <a:ext cx="615812" cy="615812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56648519-C659-1488-C617-E8564ED025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18920" y="3626540"/>
            <a:ext cx="615813" cy="615813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E9D5EAAF-D0E7-50DF-99FA-08E6D4180D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21203" y="5344261"/>
            <a:ext cx="615812" cy="615812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1B98D1C4-243E-7778-AAC7-600ED48453B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18920" y="5344260"/>
            <a:ext cx="615813" cy="615813"/>
          </a:xfrm>
          <a:prstGeom prst="rect">
            <a:avLst/>
          </a:prstGeom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1234C30-66F1-4FE2-5451-5360FDE12C55}"/>
              </a:ext>
            </a:extLst>
          </p:cNvPr>
          <p:cNvCxnSpPr>
            <a:cxnSpLocks/>
          </p:cNvCxnSpPr>
          <p:nvPr/>
        </p:nvCxnSpPr>
        <p:spPr>
          <a:xfrm>
            <a:off x="8496953" y="2285303"/>
            <a:ext cx="0" cy="4263716"/>
          </a:xfrm>
          <a:prstGeom prst="line">
            <a:avLst/>
          </a:prstGeom>
          <a:ln w="3810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27" name="Graphic 26">
            <a:extLst>
              <a:ext uri="{FF2B5EF4-FFF2-40B4-BE49-F238E27FC236}">
                <a16:creationId xmlns:a16="http://schemas.microsoft.com/office/drawing/2014/main" id="{C73CF71D-8E9B-B926-511C-8F9257903BB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994746" y="2137623"/>
            <a:ext cx="615812" cy="615812"/>
          </a:xfrm>
          <a:prstGeom prst="rect">
            <a:avLst/>
          </a:prstGeom>
        </p:spPr>
      </p:pic>
      <p:pic>
        <p:nvPicPr>
          <p:cNvPr id="28" name="Graphic 27">
            <a:extLst>
              <a:ext uri="{FF2B5EF4-FFF2-40B4-BE49-F238E27FC236}">
                <a16:creationId xmlns:a16="http://schemas.microsoft.com/office/drawing/2014/main" id="{6A3B6478-F876-9365-1C1B-C331D3AB7A0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994746" y="3493516"/>
            <a:ext cx="615812" cy="615812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6F580091-B6C7-A9EC-1EBC-7682672D3BC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994746" y="4849409"/>
            <a:ext cx="615812" cy="615812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24314013-6D24-CF46-C749-A57012574F32}"/>
              </a:ext>
            </a:extLst>
          </p:cNvPr>
          <p:cNvSpPr txBox="1"/>
          <p:nvPr/>
        </p:nvSpPr>
        <p:spPr>
          <a:xfrm>
            <a:off x="8530440" y="5733619"/>
            <a:ext cx="14308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On-Prem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C188C595-0D33-4F35-9961-5FA5AC71CBC5}"/>
              </a:ext>
            </a:extLst>
          </p:cNvPr>
          <p:cNvCxnSpPr>
            <a:cxnSpLocks/>
            <a:stCxn id="14" idx="3"/>
            <a:endCxn id="9" idx="1"/>
          </p:cNvCxnSpPr>
          <p:nvPr/>
        </p:nvCxnSpPr>
        <p:spPr>
          <a:xfrm>
            <a:off x="5937015" y="2285303"/>
            <a:ext cx="481905" cy="1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C4A103EC-27F4-7020-9AC6-D94861778344}"/>
              </a:ext>
            </a:extLst>
          </p:cNvPr>
          <p:cNvCxnSpPr>
            <a:cxnSpLocks/>
            <a:stCxn id="18" idx="3"/>
            <a:endCxn id="19" idx="1"/>
          </p:cNvCxnSpPr>
          <p:nvPr/>
        </p:nvCxnSpPr>
        <p:spPr>
          <a:xfrm>
            <a:off x="5937015" y="3934447"/>
            <a:ext cx="481905" cy="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9BAAE785-8B0E-E470-5CAB-AE415F4B1CB1}"/>
              </a:ext>
            </a:extLst>
          </p:cNvPr>
          <p:cNvCxnSpPr>
            <a:cxnSpLocks/>
            <a:stCxn id="20" idx="3"/>
            <a:endCxn id="21" idx="1"/>
          </p:cNvCxnSpPr>
          <p:nvPr/>
        </p:nvCxnSpPr>
        <p:spPr>
          <a:xfrm>
            <a:off x="5937015" y="5652167"/>
            <a:ext cx="481905" cy="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E3BEBF32-B351-69C0-27D8-6DA2206E83B8}"/>
              </a:ext>
            </a:extLst>
          </p:cNvPr>
          <p:cNvCxnSpPr>
            <a:stCxn id="7" idx="3"/>
            <a:endCxn id="14" idx="1"/>
          </p:cNvCxnSpPr>
          <p:nvPr/>
        </p:nvCxnSpPr>
        <p:spPr>
          <a:xfrm flipV="1">
            <a:off x="3938816" y="2285303"/>
            <a:ext cx="1382387" cy="1283347"/>
          </a:xfrm>
          <a:prstGeom prst="bentConnector3">
            <a:avLst/>
          </a:prstGeom>
          <a:ln w="3810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0907A049-22FE-5B5D-F5FD-CC23B84175B3}"/>
              </a:ext>
            </a:extLst>
          </p:cNvPr>
          <p:cNvCxnSpPr>
            <a:cxnSpLocks/>
            <a:stCxn id="7" idx="3"/>
            <a:endCxn id="18" idx="1"/>
          </p:cNvCxnSpPr>
          <p:nvPr/>
        </p:nvCxnSpPr>
        <p:spPr>
          <a:xfrm>
            <a:off x="3938816" y="3568650"/>
            <a:ext cx="1382387" cy="365797"/>
          </a:xfrm>
          <a:prstGeom prst="bentConnector3">
            <a:avLst/>
          </a:prstGeom>
          <a:ln w="3810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E61E86A2-B155-68F0-DAE1-22CB712260A2}"/>
              </a:ext>
            </a:extLst>
          </p:cNvPr>
          <p:cNvCxnSpPr>
            <a:cxnSpLocks/>
            <a:stCxn id="7" idx="3"/>
            <a:endCxn id="20" idx="1"/>
          </p:cNvCxnSpPr>
          <p:nvPr/>
        </p:nvCxnSpPr>
        <p:spPr>
          <a:xfrm>
            <a:off x="3938816" y="3568650"/>
            <a:ext cx="1382387" cy="2083517"/>
          </a:xfrm>
          <a:prstGeom prst="bentConnector3">
            <a:avLst/>
          </a:prstGeom>
          <a:ln w="3810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FB3006C4-ED89-9253-9641-1D750D8236F9}"/>
              </a:ext>
            </a:extLst>
          </p:cNvPr>
          <p:cNvCxnSpPr>
            <a:cxnSpLocks/>
            <a:stCxn id="27" idx="1"/>
            <a:endCxn id="14" idx="0"/>
          </p:cNvCxnSpPr>
          <p:nvPr/>
        </p:nvCxnSpPr>
        <p:spPr>
          <a:xfrm rot="10800000">
            <a:off x="5629110" y="1977397"/>
            <a:ext cx="4365637" cy="468132"/>
          </a:xfrm>
          <a:prstGeom prst="bentConnector4">
            <a:avLst>
              <a:gd name="adj1" fmla="val 46474"/>
              <a:gd name="adj2" fmla="val 148832"/>
            </a:avLst>
          </a:prstGeom>
          <a:ln w="3810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Connector: Elbow 54">
            <a:extLst>
              <a:ext uri="{FF2B5EF4-FFF2-40B4-BE49-F238E27FC236}">
                <a16:creationId xmlns:a16="http://schemas.microsoft.com/office/drawing/2014/main" id="{46C40DC7-ED8E-287C-76F7-91705B324435}"/>
              </a:ext>
            </a:extLst>
          </p:cNvPr>
          <p:cNvCxnSpPr>
            <a:cxnSpLocks/>
            <a:stCxn id="28" idx="1"/>
            <a:endCxn id="18" idx="0"/>
          </p:cNvCxnSpPr>
          <p:nvPr/>
        </p:nvCxnSpPr>
        <p:spPr>
          <a:xfrm rot="10800000">
            <a:off x="5629110" y="3626542"/>
            <a:ext cx="4365637" cy="174881"/>
          </a:xfrm>
          <a:prstGeom prst="bentConnector4">
            <a:avLst>
              <a:gd name="adj1" fmla="val 46474"/>
              <a:gd name="adj2" fmla="val 326328"/>
            </a:avLst>
          </a:prstGeom>
          <a:ln w="3810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Connector: Elbow 58">
            <a:extLst>
              <a:ext uri="{FF2B5EF4-FFF2-40B4-BE49-F238E27FC236}">
                <a16:creationId xmlns:a16="http://schemas.microsoft.com/office/drawing/2014/main" id="{A9E9000A-EAFD-CDBD-E63C-35F1808077FC}"/>
              </a:ext>
            </a:extLst>
          </p:cNvPr>
          <p:cNvCxnSpPr>
            <a:cxnSpLocks/>
            <a:stCxn id="29" idx="1"/>
            <a:endCxn id="20" idx="0"/>
          </p:cNvCxnSpPr>
          <p:nvPr/>
        </p:nvCxnSpPr>
        <p:spPr>
          <a:xfrm rot="10800000" flipV="1">
            <a:off x="5629110" y="5157315"/>
            <a:ext cx="4365637" cy="186946"/>
          </a:xfrm>
          <a:prstGeom prst="bentConnector2">
            <a:avLst/>
          </a:prstGeom>
          <a:ln w="3810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" name="Graphic 1">
            <a:extLst>
              <a:ext uri="{FF2B5EF4-FFF2-40B4-BE49-F238E27FC236}">
                <a16:creationId xmlns:a16="http://schemas.microsoft.com/office/drawing/2014/main" id="{57CEA321-5E5F-4443-B42F-5A85ABCC978F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493068" y="2690867"/>
            <a:ext cx="657225" cy="657225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8618F83C-67BB-8880-F40D-408320CBE114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81522" y="4030772"/>
            <a:ext cx="513353" cy="5715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1A8FC50-4AB1-5EED-0EDC-9587EEAB1AA5}"/>
              </a:ext>
            </a:extLst>
          </p:cNvPr>
          <p:cNvSpPr txBox="1"/>
          <p:nvPr/>
        </p:nvSpPr>
        <p:spPr>
          <a:xfrm>
            <a:off x="1180444" y="2355552"/>
            <a:ext cx="12824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Client</a:t>
            </a:r>
          </a:p>
        </p:txBody>
      </p: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A0AF0213-2FE0-CEA6-D0D0-52BD26CACF26}"/>
              </a:ext>
            </a:extLst>
          </p:cNvPr>
          <p:cNvCxnSpPr>
            <a:cxnSpLocks/>
            <a:stCxn id="6" idx="0"/>
            <a:endCxn id="2" idx="1"/>
          </p:cNvCxnSpPr>
          <p:nvPr/>
        </p:nvCxnSpPr>
        <p:spPr>
          <a:xfrm rot="5400000" flipH="1" flipV="1">
            <a:off x="659987" y="3197692"/>
            <a:ext cx="1011292" cy="654869"/>
          </a:xfrm>
          <a:prstGeom prst="bentConnector2">
            <a:avLst/>
          </a:prstGeom>
          <a:ln w="38100">
            <a:solidFill>
              <a:schemeClr val="accent5"/>
            </a:solidFill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68B9ED79-5924-B2F5-A9D7-EC031ECCBFDE}"/>
              </a:ext>
            </a:extLst>
          </p:cNvPr>
          <p:cNvCxnSpPr>
            <a:cxnSpLocks/>
            <a:stCxn id="7" idx="1"/>
            <a:endCxn id="2" idx="2"/>
          </p:cNvCxnSpPr>
          <p:nvPr/>
        </p:nvCxnSpPr>
        <p:spPr>
          <a:xfrm rot="10800000">
            <a:off x="1821682" y="3348092"/>
            <a:ext cx="1501323" cy="220558"/>
          </a:xfrm>
          <a:prstGeom prst="bentConnector2">
            <a:avLst/>
          </a:prstGeom>
          <a:ln w="38100">
            <a:solidFill>
              <a:schemeClr val="accent5"/>
            </a:solidFill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64831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2E1CCE4-DA6E-F02A-FA00-7E3B89D6B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Unanswered questions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2609001-C34E-F017-7D67-9FDBEACB77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should we approach securing internal Azure service communication?</a:t>
            </a:r>
          </a:p>
          <a:p>
            <a:pPr lvl="1"/>
            <a:r>
              <a:rPr lang="en-US" dirty="0"/>
              <a:t>Probably not nothing</a:t>
            </a:r>
          </a:p>
          <a:p>
            <a:pPr lvl="1"/>
            <a:endParaRPr lang="en-US" dirty="0"/>
          </a:p>
          <a:p>
            <a:r>
              <a:rPr lang="en-US" dirty="0"/>
              <a:t>How should we approach securing on-prem to internal Azure service communication</a:t>
            </a:r>
          </a:p>
          <a:p>
            <a:pPr lvl="1"/>
            <a:r>
              <a:rPr lang="en-US" dirty="0"/>
              <a:t>Still probably not nothing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2907E0-BAAD-A09D-02C5-50433CDBC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@</a:t>
            </a:r>
            <a:r>
              <a:rPr lang="en-US" dirty="0" err="1"/>
              <a:t>jimmybogard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75220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3464D-9912-B6F1-D2B1-A470048B9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“Zero Trust” model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8C18EE-1037-F9FD-CA0F-06D267EAB5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Never trust, always verify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8AF397-029F-963F-57BA-9E06FB4C0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@</a:t>
            </a:r>
            <a:r>
              <a:rPr lang="en-US" dirty="0" err="1"/>
              <a:t>jimmybogard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77035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E831759A-6292-1819-00C1-3E64A4917377}"/>
              </a:ext>
            </a:extLst>
          </p:cNvPr>
          <p:cNvSpPr/>
          <p:nvPr/>
        </p:nvSpPr>
        <p:spPr>
          <a:xfrm>
            <a:off x="4995618" y="5225201"/>
            <a:ext cx="2346088" cy="1131149"/>
          </a:xfrm>
          <a:prstGeom prst="rect">
            <a:avLst/>
          </a:prstGeom>
          <a:ln w="190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b"/>
          <a:lstStyle/>
          <a:p>
            <a:r>
              <a:rPr lang="en-US" dirty="0"/>
              <a:t>Microservice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2DB1C83-FC3E-F9F4-16CC-1D00D97A5A8E}"/>
              </a:ext>
            </a:extLst>
          </p:cNvPr>
          <p:cNvSpPr/>
          <p:nvPr/>
        </p:nvSpPr>
        <p:spPr>
          <a:xfrm>
            <a:off x="4995618" y="3429000"/>
            <a:ext cx="2346088" cy="1131149"/>
          </a:xfrm>
          <a:prstGeom prst="rect">
            <a:avLst/>
          </a:prstGeom>
          <a:ln w="190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b"/>
          <a:lstStyle/>
          <a:p>
            <a:r>
              <a:rPr lang="en-US" dirty="0"/>
              <a:t>Microservice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3BC4F2A-6076-6FBC-C172-8408F3BF929F}"/>
              </a:ext>
            </a:extLst>
          </p:cNvPr>
          <p:cNvSpPr/>
          <p:nvPr/>
        </p:nvSpPr>
        <p:spPr>
          <a:xfrm>
            <a:off x="4995618" y="1879955"/>
            <a:ext cx="2346088" cy="1131149"/>
          </a:xfrm>
          <a:prstGeom prst="rect">
            <a:avLst/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b"/>
          <a:lstStyle/>
          <a:p>
            <a:r>
              <a:rPr lang="en-US" dirty="0"/>
              <a:t>Microservice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D5B41BF-EFD7-65F1-FD65-059FDA0CD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Flow user token?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C48E2-BCE4-A14A-66C3-1CCF32B92F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@</a:t>
            </a:r>
            <a:r>
              <a:rPr lang="en-US" dirty="0" err="1"/>
              <a:t>jimmybogard</a:t>
            </a:r>
            <a:endParaRPr lang="en-US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764F7AB9-8347-4189-317C-0DE7F842CA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23004" y="3260744"/>
            <a:ext cx="615812" cy="615812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0F9270B-9BCF-0AB9-16C8-18CA4E0F080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18920" y="1977397"/>
            <a:ext cx="615813" cy="61581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3CDF729-10B9-42DA-6467-0953BA99A9BE}"/>
              </a:ext>
            </a:extLst>
          </p:cNvPr>
          <p:cNvSpPr txBox="1"/>
          <p:nvPr/>
        </p:nvSpPr>
        <p:spPr>
          <a:xfrm>
            <a:off x="196964" y="4695636"/>
            <a:ext cx="12824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Auth0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A805DAC-B5FF-4C94-9724-CA066E455D8D}"/>
              </a:ext>
            </a:extLst>
          </p:cNvPr>
          <p:cNvSpPr txBox="1"/>
          <p:nvPr/>
        </p:nvSpPr>
        <p:spPr>
          <a:xfrm>
            <a:off x="2945564" y="3903741"/>
            <a:ext cx="12824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BFF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2055062-2E48-A639-5A72-0E0892A5E7EC}"/>
              </a:ext>
            </a:extLst>
          </p:cNvPr>
          <p:cNvCxnSpPr>
            <a:cxnSpLocks/>
          </p:cNvCxnSpPr>
          <p:nvPr/>
        </p:nvCxnSpPr>
        <p:spPr>
          <a:xfrm>
            <a:off x="2549870" y="2250094"/>
            <a:ext cx="0" cy="4263716"/>
          </a:xfrm>
          <a:prstGeom prst="line">
            <a:avLst/>
          </a:prstGeom>
          <a:ln w="3810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8A6F7AEA-39E0-AD99-F2DF-8B375EF26BFB}"/>
              </a:ext>
            </a:extLst>
          </p:cNvPr>
          <p:cNvSpPr txBox="1"/>
          <p:nvPr/>
        </p:nvSpPr>
        <p:spPr>
          <a:xfrm>
            <a:off x="433780" y="5729832"/>
            <a:ext cx="14308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Internet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06438F5-B0E6-BC7A-3CE7-DE7BAA72887B}"/>
              </a:ext>
            </a:extLst>
          </p:cNvPr>
          <p:cNvSpPr txBox="1"/>
          <p:nvPr/>
        </p:nvSpPr>
        <p:spPr>
          <a:xfrm>
            <a:off x="3002092" y="5729832"/>
            <a:ext cx="14308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Azure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F5BF9BE2-EDA3-0D05-52B0-ADFB55A4DA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21203" y="1977397"/>
            <a:ext cx="615812" cy="615812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B66ABFB0-5F93-3166-0B7D-CF70051C8A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21203" y="3626541"/>
            <a:ext cx="615812" cy="615812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56648519-C659-1488-C617-E8564ED025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18920" y="3626540"/>
            <a:ext cx="615813" cy="615813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E9D5EAAF-D0E7-50DF-99FA-08E6D4180D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21203" y="5344261"/>
            <a:ext cx="615812" cy="615812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1B98D1C4-243E-7778-AAC7-600ED48453B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18920" y="5344260"/>
            <a:ext cx="615813" cy="615813"/>
          </a:xfrm>
          <a:prstGeom prst="rect">
            <a:avLst/>
          </a:prstGeom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1234C30-66F1-4FE2-5451-5360FDE12C55}"/>
              </a:ext>
            </a:extLst>
          </p:cNvPr>
          <p:cNvCxnSpPr>
            <a:cxnSpLocks/>
          </p:cNvCxnSpPr>
          <p:nvPr/>
        </p:nvCxnSpPr>
        <p:spPr>
          <a:xfrm>
            <a:off x="8496953" y="2285303"/>
            <a:ext cx="0" cy="4263716"/>
          </a:xfrm>
          <a:prstGeom prst="line">
            <a:avLst/>
          </a:prstGeom>
          <a:ln w="3810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27" name="Graphic 26">
            <a:extLst>
              <a:ext uri="{FF2B5EF4-FFF2-40B4-BE49-F238E27FC236}">
                <a16:creationId xmlns:a16="http://schemas.microsoft.com/office/drawing/2014/main" id="{C73CF71D-8E9B-B926-511C-8F9257903BB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994746" y="2137623"/>
            <a:ext cx="615812" cy="615812"/>
          </a:xfrm>
          <a:prstGeom prst="rect">
            <a:avLst/>
          </a:prstGeom>
        </p:spPr>
      </p:pic>
      <p:pic>
        <p:nvPicPr>
          <p:cNvPr id="28" name="Graphic 27">
            <a:extLst>
              <a:ext uri="{FF2B5EF4-FFF2-40B4-BE49-F238E27FC236}">
                <a16:creationId xmlns:a16="http://schemas.microsoft.com/office/drawing/2014/main" id="{6A3B6478-F876-9365-1C1B-C331D3AB7A0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994746" y="3493516"/>
            <a:ext cx="615812" cy="615812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6F580091-B6C7-A9EC-1EBC-7682672D3BC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994746" y="4849409"/>
            <a:ext cx="615812" cy="615812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24314013-6D24-CF46-C749-A57012574F32}"/>
              </a:ext>
            </a:extLst>
          </p:cNvPr>
          <p:cNvSpPr txBox="1"/>
          <p:nvPr/>
        </p:nvSpPr>
        <p:spPr>
          <a:xfrm>
            <a:off x="8530440" y="5733619"/>
            <a:ext cx="14308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On-Prem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C188C595-0D33-4F35-9961-5FA5AC71CBC5}"/>
              </a:ext>
            </a:extLst>
          </p:cNvPr>
          <p:cNvCxnSpPr>
            <a:cxnSpLocks/>
            <a:stCxn id="14" idx="3"/>
            <a:endCxn id="9" idx="1"/>
          </p:cNvCxnSpPr>
          <p:nvPr/>
        </p:nvCxnSpPr>
        <p:spPr>
          <a:xfrm>
            <a:off x="5937015" y="2285303"/>
            <a:ext cx="481905" cy="1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C4A103EC-27F4-7020-9AC6-D94861778344}"/>
              </a:ext>
            </a:extLst>
          </p:cNvPr>
          <p:cNvCxnSpPr>
            <a:cxnSpLocks/>
            <a:stCxn id="18" idx="3"/>
            <a:endCxn id="19" idx="1"/>
          </p:cNvCxnSpPr>
          <p:nvPr/>
        </p:nvCxnSpPr>
        <p:spPr>
          <a:xfrm>
            <a:off x="5937015" y="3934447"/>
            <a:ext cx="481905" cy="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9BAAE785-8B0E-E470-5CAB-AE415F4B1CB1}"/>
              </a:ext>
            </a:extLst>
          </p:cNvPr>
          <p:cNvCxnSpPr>
            <a:cxnSpLocks/>
            <a:stCxn id="20" idx="3"/>
            <a:endCxn id="21" idx="1"/>
          </p:cNvCxnSpPr>
          <p:nvPr/>
        </p:nvCxnSpPr>
        <p:spPr>
          <a:xfrm>
            <a:off x="5937015" y="5652167"/>
            <a:ext cx="481905" cy="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E3BEBF32-B351-69C0-27D8-6DA2206E83B8}"/>
              </a:ext>
            </a:extLst>
          </p:cNvPr>
          <p:cNvCxnSpPr>
            <a:stCxn id="7" idx="3"/>
            <a:endCxn id="14" idx="1"/>
          </p:cNvCxnSpPr>
          <p:nvPr/>
        </p:nvCxnSpPr>
        <p:spPr>
          <a:xfrm flipV="1">
            <a:off x="3938816" y="2285303"/>
            <a:ext cx="1382387" cy="1283347"/>
          </a:xfrm>
          <a:prstGeom prst="bentConnector3">
            <a:avLst/>
          </a:prstGeom>
          <a:ln w="38100">
            <a:solidFill>
              <a:schemeClr val="accent5"/>
            </a:solidFill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0907A049-22FE-5B5D-F5FD-CC23B84175B3}"/>
              </a:ext>
            </a:extLst>
          </p:cNvPr>
          <p:cNvCxnSpPr>
            <a:cxnSpLocks/>
            <a:stCxn id="7" idx="3"/>
            <a:endCxn id="18" idx="1"/>
          </p:cNvCxnSpPr>
          <p:nvPr/>
        </p:nvCxnSpPr>
        <p:spPr>
          <a:xfrm>
            <a:off x="3938816" y="3568650"/>
            <a:ext cx="1382387" cy="365797"/>
          </a:xfrm>
          <a:prstGeom prst="bentConnector3">
            <a:avLst/>
          </a:prstGeom>
          <a:ln w="38100">
            <a:solidFill>
              <a:schemeClr val="accent5"/>
            </a:solidFill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E61E86A2-B155-68F0-DAE1-22CB712260A2}"/>
              </a:ext>
            </a:extLst>
          </p:cNvPr>
          <p:cNvCxnSpPr>
            <a:cxnSpLocks/>
            <a:stCxn id="7" idx="3"/>
            <a:endCxn id="20" idx="1"/>
          </p:cNvCxnSpPr>
          <p:nvPr/>
        </p:nvCxnSpPr>
        <p:spPr>
          <a:xfrm>
            <a:off x="3938816" y="3568650"/>
            <a:ext cx="1382387" cy="2083517"/>
          </a:xfrm>
          <a:prstGeom prst="bentConnector3">
            <a:avLst/>
          </a:prstGeom>
          <a:ln w="38100">
            <a:solidFill>
              <a:schemeClr val="accent5"/>
            </a:solidFill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FB3006C4-ED89-9253-9641-1D750D8236F9}"/>
              </a:ext>
            </a:extLst>
          </p:cNvPr>
          <p:cNvCxnSpPr>
            <a:cxnSpLocks/>
            <a:stCxn id="27" idx="1"/>
            <a:endCxn id="14" idx="0"/>
          </p:cNvCxnSpPr>
          <p:nvPr/>
        </p:nvCxnSpPr>
        <p:spPr>
          <a:xfrm rot="10800000">
            <a:off x="5629110" y="1977397"/>
            <a:ext cx="4365637" cy="468132"/>
          </a:xfrm>
          <a:prstGeom prst="bentConnector4">
            <a:avLst>
              <a:gd name="adj1" fmla="val 46474"/>
              <a:gd name="adj2" fmla="val 148832"/>
            </a:avLst>
          </a:prstGeom>
          <a:ln w="3810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Connector: Elbow 54">
            <a:extLst>
              <a:ext uri="{FF2B5EF4-FFF2-40B4-BE49-F238E27FC236}">
                <a16:creationId xmlns:a16="http://schemas.microsoft.com/office/drawing/2014/main" id="{46C40DC7-ED8E-287C-76F7-91705B324435}"/>
              </a:ext>
            </a:extLst>
          </p:cNvPr>
          <p:cNvCxnSpPr>
            <a:cxnSpLocks/>
            <a:stCxn id="28" idx="1"/>
            <a:endCxn id="18" idx="0"/>
          </p:cNvCxnSpPr>
          <p:nvPr/>
        </p:nvCxnSpPr>
        <p:spPr>
          <a:xfrm rot="10800000">
            <a:off x="5629110" y="3626542"/>
            <a:ext cx="4365637" cy="174881"/>
          </a:xfrm>
          <a:prstGeom prst="bentConnector4">
            <a:avLst>
              <a:gd name="adj1" fmla="val 46474"/>
              <a:gd name="adj2" fmla="val 326328"/>
            </a:avLst>
          </a:prstGeom>
          <a:ln w="3810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Connector: Elbow 58">
            <a:extLst>
              <a:ext uri="{FF2B5EF4-FFF2-40B4-BE49-F238E27FC236}">
                <a16:creationId xmlns:a16="http://schemas.microsoft.com/office/drawing/2014/main" id="{A9E9000A-EAFD-CDBD-E63C-35F1808077FC}"/>
              </a:ext>
            </a:extLst>
          </p:cNvPr>
          <p:cNvCxnSpPr>
            <a:cxnSpLocks/>
            <a:stCxn id="29" idx="1"/>
            <a:endCxn id="20" idx="0"/>
          </p:cNvCxnSpPr>
          <p:nvPr/>
        </p:nvCxnSpPr>
        <p:spPr>
          <a:xfrm rot="10800000" flipV="1">
            <a:off x="5629110" y="5157315"/>
            <a:ext cx="4365637" cy="186946"/>
          </a:xfrm>
          <a:prstGeom prst="bentConnector2">
            <a:avLst/>
          </a:prstGeom>
          <a:ln w="3810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" name="Graphic 1">
            <a:extLst>
              <a:ext uri="{FF2B5EF4-FFF2-40B4-BE49-F238E27FC236}">
                <a16:creationId xmlns:a16="http://schemas.microsoft.com/office/drawing/2014/main" id="{57CEA321-5E5F-4443-B42F-5A85ABCC978F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493068" y="2690867"/>
            <a:ext cx="657225" cy="657225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8618F83C-67BB-8880-F40D-408320CBE114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81522" y="4030772"/>
            <a:ext cx="513353" cy="5715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1A8FC50-4AB1-5EED-0EDC-9587EEAB1AA5}"/>
              </a:ext>
            </a:extLst>
          </p:cNvPr>
          <p:cNvSpPr txBox="1"/>
          <p:nvPr/>
        </p:nvSpPr>
        <p:spPr>
          <a:xfrm>
            <a:off x="1180444" y="2355552"/>
            <a:ext cx="12824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Client</a:t>
            </a:r>
          </a:p>
        </p:txBody>
      </p: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A0AF0213-2FE0-CEA6-D0D0-52BD26CACF26}"/>
              </a:ext>
            </a:extLst>
          </p:cNvPr>
          <p:cNvCxnSpPr>
            <a:cxnSpLocks/>
            <a:stCxn id="6" idx="0"/>
            <a:endCxn id="2" idx="1"/>
          </p:cNvCxnSpPr>
          <p:nvPr/>
        </p:nvCxnSpPr>
        <p:spPr>
          <a:xfrm rot="5400000" flipH="1" flipV="1">
            <a:off x="659987" y="3197692"/>
            <a:ext cx="1011292" cy="654869"/>
          </a:xfrm>
          <a:prstGeom prst="bentConnector2">
            <a:avLst/>
          </a:prstGeom>
          <a:ln w="38100">
            <a:solidFill>
              <a:schemeClr val="accent5"/>
            </a:solidFill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68B9ED79-5924-B2F5-A9D7-EC031ECCBFDE}"/>
              </a:ext>
            </a:extLst>
          </p:cNvPr>
          <p:cNvCxnSpPr>
            <a:cxnSpLocks/>
            <a:stCxn id="7" idx="1"/>
            <a:endCxn id="2" idx="2"/>
          </p:cNvCxnSpPr>
          <p:nvPr/>
        </p:nvCxnSpPr>
        <p:spPr>
          <a:xfrm rot="10800000">
            <a:off x="1821682" y="3348092"/>
            <a:ext cx="1501323" cy="220558"/>
          </a:xfrm>
          <a:prstGeom prst="bentConnector2">
            <a:avLst/>
          </a:prstGeom>
          <a:ln w="38100">
            <a:solidFill>
              <a:schemeClr val="accent5"/>
            </a:solidFill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36495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E831759A-6292-1819-00C1-3E64A4917377}"/>
              </a:ext>
            </a:extLst>
          </p:cNvPr>
          <p:cNvSpPr/>
          <p:nvPr/>
        </p:nvSpPr>
        <p:spPr>
          <a:xfrm>
            <a:off x="4995618" y="5225201"/>
            <a:ext cx="2346088" cy="1131149"/>
          </a:xfrm>
          <a:prstGeom prst="rect">
            <a:avLst/>
          </a:prstGeom>
          <a:ln w="190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b"/>
          <a:lstStyle/>
          <a:p>
            <a:r>
              <a:rPr lang="en-US" dirty="0"/>
              <a:t>Microservice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2DB1C83-FC3E-F9F4-16CC-1D00D97A5A8E}"/>
              </a:ext>
            </a:extLst>
          </p:cNvPr>
          <p:cNvSpPr/>
          <p:nvPr/>
        </p:nvSpPr>
        <p:spPr>
          <a:xfrm>
            <a:off x="4995618" y="3429000"/>
            <a:ext cx="2346088" cy="1131149"/>
          </a:xfrm>
          <a:prstGeom prst="rect">
            <a:avLst/>
          </a:prstGeom>
          <a:ln w="190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b"/>
          <a:lstStyle/>
          <a:p>
            <a:r>
              <a:rPr lang="en-US" dirty="0"/>
              <a:t>Microservice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3BC4F2A-6076-6FBC-C172-8408F3BF929F}"/>
              </a:ext>
            </a:extLst>
          </p:cNvPr>
          <p:cNvSpPr/>
          <p:nvPr/>
        </p:nvSpPr>
        <p:spPr>
          <a:xfrm>
            <a:off x="4995618" y="1879955"/>
            <a:ext cx="2346088" cy="1131149"/>
          </a:xfrm>
          <a:prstGeom prst="rect">
            <a:avLst/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b"/>
          <a:lstStyle/>
          <a:p>
            <a:r>
              <a:rPr lang="en-US" dirty="0"/>
              <a:t>Microservice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D5B41BF-EFD7-65F1-FD65-059FDA0CD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Solution: Microsoft Entra ID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C48E2-BCE4-A14A-66C3-1CCF32B92F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@</a:t>
            </a:r>
            <a:r>
              <a:rPr lang="en-US" dirty="0" err="1"/>
              <a:t>jimmybogard</a:t>
            </a:r>
            <a:endParaRPr lang="en-US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764F7AB9-8347-4189-317C-0DE7F842CA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23004" y="3260744"/>
            <a:ext cx="615812" cy="615812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0F9270B-9BCF-0AB9-16C8-18CA4E0F080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18920" y="1977397"/>
            <a:ext cx="615813" cy="61581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3CDF729-10B9-42DA-6467-0953BA99A9BE}"/>
              </a:ext>
            </a:extLst>
          </p:cNvPr>
          <p:cNvSpPr txBox="1"/>
          <p:nvPr/>
        </p:nvSpPr>
        <p:spPr>
          <a:xfrm>
            <a:off x="196964" y="4695636"/>
            <a:ext cx="12824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Auth0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A805DAC-B5FF-4C94-9724-CA066E455D8D}"/>
              </a:ext>
            </a:extLst>
          </p:cNvPr>
          <p:cNvSpPr txBox="1"/>
          <p:nvPr/>
        </p:nvSpPr>
        <p:spPr>
          <a:xfrm>
            <a:off x="2945564" y="3903741"/>
            <a:ext cx="12824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BFF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2055062-2E48-A639-5A72-0E0892A5E7EC}"/>
              </a:ext>
            </a:extLst>
          </p:cNvPr>
          <p:cNvCxnSpPr>
            <a:cxnSpLocks/>
          </p:cNvCxnSpPr>
          <p:nvPr/>
        </p:nvCxnSpPr>
        <p:spPr>
          <a:xfrm>
            <a:off x="2549870" y="2250094"/>
            <a:ext cx="0" cy="4263716"/>
          </a:xfrm>
          <a:prstGeom prst="line">
            <a:avLst/>
          </a:prstGeom>
          <a:ln w="3810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8A6F7AEA-39E0-AD99-F2DF-8B375EF26BFB}"/>
              </a:ext>
            </a:extLst>
          </p:cNvPr>
          <p:cNvSpPr txBox="1"/>
          <p:nvPr/>
        </p:nvSpPr>
        <p:spPr>
          <a:xfrm>
            <a:off x="433780" y="5729832"/>
            <a:ext cx="14308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Internet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06438F5-B0E6-BC7A-3CE7-DE7BAA72887B}"/>
              </a:ext>
            </a:extLst>
          </p:cNvPr>
          <p:cNvSpPr txBox="1"/>
          <p:nvPr/>
        </p:nvSpPr>
        <p:spPr>
          <a:xfrm>
            <a:off x="3002092" y="5729832"/>
            <a:ext cx="14308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Azure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F5BF9BE2-EDA3-0D05-52B0-ADFB55A4DA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21203" y="1977397"/>
            <a:ext cx="615812" cy="615812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B66ABFB0-5F93-3166-0B7D-CF70051C8A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21203" y="3626541"/>
            <a:ext cx="615812" cy="615812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56648519-C659-1488-C617-E8564ED025D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18920" y="3626540"/>
            <a:ext cx="615813" cy="615813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E9D5EAAF-D0E7-50DF-99FA-08E6D4180D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21203" y="5344261"/>
            <a:ext cx="615812" cy="615812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1B98D1C4-243E-7778-AAC7-600ED48453B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18920" y="5344260"/>
            <a:ext cx="615813" cy="615813"/>
          </a:xfrm>
          <a:prstGeom prst="rect">
            <a:avLst/>
          </a:prstGeom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1234C30-66F1-4FE2-5451-5360FDE12C55}"/>
              </a:ext>
            </a:extLst>
          </p:cNvPr>
          <p:cNvCxnSpPr>
            <a:cxnSpLocks/>
          </p:cNvCxnSpPr>
          <p:nvPr/>
        </p:nvCxnSpPr>
        <p:spPr>
          <a:xfrm>
            <a:off x="8496953" y="2285303"/>
            <a:ext cx="0" cy="4263716"/>
          </a:xfrm>
          <a:prstGeom prst="line">
            <a:avLst/>
          </a:prstGeom>
          <a:ln w="3810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27" name="Graphic 26">
            <a:extLst>
              <a:ext uri="{FF2B5EF4-FFF2-40B4-BE49-F238E27FC236}">
                <a16:creationId xmlns:a16="http://schemas.microsoft.com/office/drawing/2014/main" id="{C73CF71D-8E9B-B926-511C-8F9257903BB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994746" y="2137623"/>
            <a:ext cx="615812" cy="615812"/>
          </a:xfrm>
          <a:prstGeom prst="rect">
            <a:avLst/>
          </a:prstGeom>
        </p:spPr>
      </p:pic>
      <p:pic>
        <p:nvPicPr>
          <p:cNvPr id="28" name="Graphic 27">
            <a:extLst>
              <a:ext uri="{FF2B5EF4-FFF2-40B4-BE49-F238E27FC236}">
                <a16:creationId xmlns:a16="http://schemas.microsoft.com/office/drawing/2014/main" id="{6A3B6478-F876-9365-1C1B-C331D3AB7A0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994746" y="3493516"/>
            <a:ext cx="615812" cy="615812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6F580091-B6C7-A9EC-1EBC-7682672D3BC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994746" y="4849409"/>
            <a:ext cx="615812" cy="615812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24314013-6D24-CF46-C749-A57012574F32}"/>
              </a:ext>
            </a:extLst>
          </p:cNvPr>
          <p:cNvSpPr txBox="1"/>
          <p:nvPr/>
        </p:nvSpPr>
        <p:spPr>
          <a:xfrm>
            <a:off x="8530440" y="5733619"/>
            <a:ext cx="14308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On-Prem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C188C595-0D33-4F35-9961-5FA5AC71CBC5}"/>
              </a:ext>
            </a:extLst>
          </p:cNvPr>
          <p:cNvCxnSpPr>
            <a:cxnSpLocks/>
            <a:stCxn id="14" idx="3"/>
            <a:endCxn id="9" idx="1"/>
          </p:cNvCxnSpPr>
          <p:nvPr/>
        </p:nvCxnSpPr>
        <p:spPr>
          <a:xfrm>
            <a:off x="5937015" y="2285303"/>
            <a:ext cx="481905" cy="1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C4A103EC-27F4-7020-9AC6-D94861778344}"/>
              </a:ext>
            </a:extLst>
          </p:cNvPr>
          <p:cNvCxnSpPr>
            <a:cxnSpLocks/>
            <a:stCxn id="18" idx="3"/>
            <a:endCxn id="19" idx="1"/>
          </p:cNvCxnSpPr>
          <p:nvPr/>
        </p:nvCxnSpPr>
        <p:spPr>
          <a:xfrm>
            <a:off x="5937015" y="3934447"/>
            <a:ext cx="481905" cy="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9BAAE785-8B0E-E470-5CAB-AE415F4B1CB1}"/>
              </a:ext>
            </a:extLst>
          </p:cNvPr>
          <p:cNvCxnSpPr>
            <a:cxnSpLocks/>
            <a:stCxn id="20" idx="3"/>
            <a:endCxn id="21" idx="1"/>
          </p:cNvCxnSpPr>
          <p:nvPr/>
        </p:nvCxnSpPr>
        <p:spPr>
          <a:xfrm>
            <a:off x="5937015" y="5652167"/>
            <a:ext cx="481905" cy="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E3BEBF32-B351-69C0-27D8-6DA2206E83B8}"/>
              </a:ext>
            </a:extLst>
          </p:cNvPr>
          <p:cNvCxnSpPr>
            <a:stCxn id="7" idx="3"/>
            <a:endCxn id="14" idx="1"/>
          </p:cNvCxnSpPr>
          <p:nvPr/>
        </p:nvCxnSpPr>
        <p:spPr>
          <a:xfrm flipV="1">
            <a:off x="3938816" y="2285303"/>
            <a:ext cx="1382387" cy="1283347"/>
          </a:xfrm>
          <a:prstGeom prst="bentConnector3">
            <a:avLst/>
          </a:prstGeom>
          <a:ln w="38100">
            <a:solidFill>
              <a:schemeClr val="accent6"/>
            </a:solidFill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0907A049-22FE-5B5D-F5FD-CC23B84175B3}"/>
              </a:ext>
            </a:extLst>
          </p:cNvPr>
          <p:cNvCxnSpPr>
            <a:cxnSpLocks/>
            <a:stCxn id="7" idx="3"/>
            <a:endCxn id="18" idx="1"/>
          </p:cNvCxnSpPr>
          <p:nvPr/>
        </p:nvCxnSpPr>
        <p:spPr>
          <a:xfrm>
            <a:off x="3938816" y="3568650"/>
            <a:ext cx="1382387" cy="365797"/>
          </a:xfrm>
          <a:prstGeom prst="bentConnector3">
            <a:avLst/>
          </a:prstGeom>
          <a:ln w="38100">
            <a:solidFill>
              <a:schemeClr val="accent6"/>
            </a:solidFill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E61E86A2-B155-68F0-DAE1-22CB712260A2}"/>
              </a:ext>
            </a:extLst>
          </p:cNvPr>
          <p:cNvCxnSpPr>
            <a:cxnSpLocks/>
            <a:stCxn id="7" idx="3"/>
            <a:endCxn id="20" idx="1"/>
          </p:cNvCxnSpPr>
          <p:nvPr/>
        </p:nvCxnSpPr>
        <p:spPr>
          <a:xfrm>
            <a:off x="3938816" y="3568650"/>
            <a:ext cx="1382387" cy="2083517"/>
          </a:xfrm>
          <a:prstGeom prst="bentConnector3">
            <a:avLst/>
          </a:prstGeom>
          <a:ln w="38100">
            <a:solidFill>
              <a:schemeClr val="accent6"/>
            </a:solidFill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FB3006C4-ED89-9253-9641-1D750D8236F9}"/>
              </a:ext>
            </a:extLst>
          </p:cNvPr>
          <p:cNvCxnSpPr>
            <a:cxnSpLocks/>
            <a:stCxn id="27" idx="1"/>
            <a:endCxn id="14" idx="0"/>
          </p:cNvCxnSpPr>
          <p:nvPr/>
        </p:nvCxnSpPr>
        <p:spPr>
          <a:xfrm rot="10800000">
            <a:off x="5629110" y="1977397"/>
            <a:ext cx="4365637" cy="468132"/>
          </a:xfrm>
          <a:prstGeom prst="bentConnector4">
            <a:avLst>
              <a:gd name="adj1" fmla="val 46474"/>
              <a:gd name="adj2" fmla="val 148832"/>
            </a:avLst>
          </a:prstGeom>
          <a:ln w="38100">
            <a:solidFill>
              <a:schemeClr val="accent6"/>
            </a:solidFill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Connector: Elbow 54">
            <a:extLst>
              <a:ext uri="{FF2B5EF4-FFF2-40B4-BE49-F238E27FC236}">
                <a16:creationId xmlns:a16="http://schemas.microsoft.com/office/drawing/2014/main" id="{46C40DC7-ED8E-287C-76F7-91705B324435}"/>
              </a:ext>
            </a:extLst>
          </p:cNvPr>
          <p:cNvCxnSpPr>
            <a:cxnSpLocks/>
            <a:stCxn id="28" idx="1"/>
            <a:endCxn id="18" idx="0"/>
          </p:cNvCxnSpPr>
          <p:nvPr/>
        </p:nvCxnSpPr>
        <p:spPr>
          <a:xfrm rot="10800000">
            <a:off x="5629110" y="3626542"/>
            <a:ext cx="4365637" cy="174881"/>
          </a:xfrm>
          <a:prstGeom prst="bentConnector4">
            <a:avLst>
              <a:gd name="adj1" fmla="val 46474"/>
              <a:gd name="adj2" fmla="val 326328"/>
            </a:avLst>
          </a:prstGeom>
          <a:ln w="38100">
            <a:solidFill>
              <a:schemeClr val="accent6"/>
            </a:solidFill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Connector: Elbow 58">
            <a:extLst>
              <a:ext uri="{FF2B5EF4-FFF2-40B4-BE49-F238E27FC236}">
                <a16:creationId xmlns:a16="http://schemas.microsoft.com/office/drawing/2014/main" id="{A9E9000A-EAFD-CDBD-E63C-35F1808077FC}"/>
              </a:ext>
            </a:extLst>
          </p:cNvPr>
          <p:cNvCxnSpPr>
            <a:cxnSpLocks/>
            <a:stCxn id="29" idx="1"/>
            <a:endCxn id="20" idx="0"/>
          </p:cNvCxnSpPr>
          <p:nvPr/>
        </p:nvCxnSpPr>
        <p:spPr>
          <a:xfrm rot="10800000" flipV="1">
            <a:off x="5629110" y="5157315"/>
            <a:ext cx="4365637" cy="186946"/>
          </a:xfrm>
          <a:prstGeom prst="bentConnector2">
            <a:avLst/>
          </a:prstGeom>
          <a:ln w="38100">
            <a:solidFill>
              <a:schemeClr val="accent6"/>
            </a:solidFill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" name="Graphic 1">
            <a:extLst>
              <a:ext uri="{FF2B5EF4-FFF2-40B4-BE49-F238E27FC236}">
                <a16:creationId xmlns:a16="http://schemas.microsoft.com/office/drawing/2014/main" id="{57CEA321-5E5F-4443-B42F-5A85ABCC978F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493068" y="2690867"/>
            <a:ext cx="657225" cy="657225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8618F83C-67BB-8880-F40D-408320CBE114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81522" y="4030772"/>
            <a:ext cx="513353" cy="5715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1A8FC50-4AB1-5EED-0EDC-9587EEAB1AA5}"/>
              </a:ext>
            </a:extLst>
          </p:cNvPr>
          <p:cNvSpPr txBox="1"/>
          <p:nvPr/>
        </p:nvSpPr>
        <p:spPr>
          <a:xfrm>
            <a:off x="1180444" y="2355552"/>
            <a:ext cx="12824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Client</a:t>
            </a:r>
          </a:p>
        </p:txBody>
      </p: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A0AF0213-2FE0-CEA6-D0D0-52BD26CACF26}"/>
              </a:ext>
            </a:extLst>
          </p:cNvPr>
          <p:cNvCxnSpPr>
            <a:cxnSpLocks/>
            <a:stCxn id="6" idx="0"/>
            <a:endCxn id="2" idx="1"/>
          </p:cNvCxnSpPr>
          <p:nvPr/>
        </p:nvCxnSpPr>
        <p:spPr>
          <a:xfrm rot="5400000" flipH="1" flipV="1">
            <a:off x="659987" y="3197692"/>
            <a:ext cx="1011292" cy="654869"/>
          </a:xfrm>
          <a:prstGeom prst="bentConnector2">
            <a:avLst/>
          </a:prstGeom>
          <a:ln w="38100">
            <a:solidFill>
              <a:schemeClr val="accent5"/>
            </a:solidFill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68B9ED79-5924-B2F5-A9D7-EC031ECCBFDE}"/>
              </a:ext>
            </a:extLst>
          </p:cNvPr>
          <p:cNvCxnSpPr>
            <a:cxnSpLocks/>
            <a:stCxn id="7" idx="1"/>
            <a:endCxn id="2" idx="2"/>
          </p:cNvCxnSpPr>
          <p:nvPr/>
        </p:nvCxnSpPr>
        <p:spPr>
          <a:xfrm rot="10800000">
            <a:off x="1821682" y="3348092"/>
            <a:ext cx="1501323" cy="220558"/>
          </a:xfrm>
          <a:prstGeom prst="bentConnector2">
            <a:avLst/>
          </a:prstGeom>
          <a:ln w="38100">
            <a:solidFill>
              <a:schemeClr val="accent5"/>
            </a:solidFill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95656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3464D-9912-B6F1-D2B1-A470048B9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authenticate?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8C18EE-1037-F9FD-CA0F-06D267EAB5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8AF397-029F-963F-57BA-9E06FB4C0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@</a:t>
            </a:r>
            <a:r>
              <a:rPr lang="en-US" dirty="0" err="1"/>
              <a:t>jimmybogard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49505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AF58C-E589-DA4C-F47B-E205FA34B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Entra ID OAuth 2.0 flows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C2AF0C-6749-D1DD-0637-7B290BDF0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@</a:t>
            </a:r>
            <a:r>
              <a:rPr lang="en-US" dirty="0" err="1"/>
              <a:t>jimmybogard</a:t>
            </a:r>
            <a:endParaRPr lang="en-US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69B263BF-24D6-6609-FA19-F745F7BECE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6301327"/>
              </p:ext>
            </p:extLst>
          </p:nvPr>
        </p:nvGraphicFramePr>
        <p:xfrm>
          <a:off x="1049674" y="1525823"/>
          <a:ext cx="9672318" cy="513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24106">
                  <a:extLst>
                    <a:ext uri="{9D8B030D-6E8A-4147-A177-3AD203B41FA5}">
                      <a16:colId xmlns:a16="http://schemas.microsoft.com/office/drawing/2014/main" val="2717438185"/>
                    </a:ext>
                  </a:extLst>
                </a:gridCol>
                <a:gridCol w="3224106">
                  <a:extLst>
                    <a:ext uri="{9D8B030D-6E8A-4147-A177-3AD203B41FA5}">
                      <a16:colId xmlns:a16="http://schemas.microsoft.com/office/drawing/2014/main" val="3178896046"/>
                    </a:ext>
                  </a:extLst>
                </a:gridCol>
                <a:gridCol w="3224106">
                  <a:extLst>
                    <a:ext uri="{9D8B030D-6E8A-4147-A177-3AD203B41FA5}">
                      <a16:colId xmlns:a16="http://schemas.microsoft.com/office/drawing/2014/main" val="37016387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Scenario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OAuth Flow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Audience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13905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Single-paged 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Auth code with PKCE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Work or school accounts, personal, B2C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31844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Web 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Auth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Same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22512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Web app that calls web APIs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Auth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Same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47928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Desktop app that calls web APIs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Auth code with PKCE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Same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9940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Mobile app that calls web APIs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Auth code with PKCE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Same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38723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Web API that calls web APIs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On-behalf-of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Work or school accounts, personal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5690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Daemon app that calls web APIs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Client credentials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App-only permissions that have no user, only inside Entra 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49473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2145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AF58C-E589-DA4C-F47B-E205FA34B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Entra ID OAuth 2.0 flows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C2AF0C-6749-D1DD-0637-7B290BDF0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@</a:t>
            </a:r>
            <a:r>
              <a:rPr lang="en-US" dirty="0" err="1"/>
              <a:t>jimmybogard</a:t>
            </a:r>
            <a:endParaRPr lang="en-US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69B263BF-24D6-6609-FA19-F745F7BECE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3173268"/>
              </p:ext>
            </p:extLst>
          </p:nvPr>
        </p:nvGraphicFramePr>
        <p:xfrm>
          <a:off x="1049674" y="1525823"/>
          <a:ext cx="9672318" cy="513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24106">
                  <a:extLst>
                    <a:ext uri="{9D8B030D-6E8A-4147-A177-3AD203B41FA5}">
                      <a16:colId xmlns:a16="http://schemas.microsoft.com/office/drawing/2014/main" val="2717438185"/>
                    </a:ext>
                  </a:extLst>
                </a:gridCol>
                <a:gridCol w="3224106">
                  <a:extLst>
                    <a:ext uri="{9D8B030D-6E8A-4147-A177-3AD203B41FA5}">
                      <a16:colId xmlns:a16="http://schemas.microsoft.com/office/drawing/2014/main" val="3178896046"/>
                    </a:ext>
                  </a:extLst>
                </a:gridCol>
                <a:gridCol w="3224106">
                  <a:extLst>
                    <a:ext uri="{9D8B030D-6E8A-4147-A177-3AD203B41FA5}">
                      <a16:colId xmlns:a16="http://schemas.microsoft.com/office/drawing/2014/main" val="37016387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Scenario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OAuth Flow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Audience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13905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Single-paged 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Auth code with PKCE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Work or school accounts, personal, B2C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31844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Web 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Auth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Same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22512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Web app that calls web APIs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Auth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Same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47928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Desktop app that calls web APIs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Auth code with PKCE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Same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9940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Mobile app that calls web APIs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Auth code with PKCE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Same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38723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Web API that calls web APIs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On-behalf-of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Work or school accounts, personal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5690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Daemon app that calls web APIs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Client credentials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App-only permissions that have no user, only inside Entra ID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49473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02790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AF58C-E589-DA4C-F47B-E205FA34B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Entra ID OAuth 2.0 flows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C2AF0C-6749-D1DD-0637-7B290BDF0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@</a:t>
            </a:r>
            <a:r>
              <a:rPr lang="en-US" dirty="0" err="1"/>
              <a:t>jimmybogard</a:t>
            </a:r>
            <a:endParaRPr lang="en-US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69B263BF-24D6-6609-FA19-F745F7BECE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5931142"/>
              </p:ext>
            </p:extLst>
          </p:nvPr>
        </p:nvGraphicFramePr>
        <p:xfrm>
          <a:off x="1049674" y="1525823"/>
          <a:ext cx="9672318" cy="513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24106">
                  <a:extLst>
                    <a:ext uri="{9D8B030D-6E8A-4147-A177-3AD203B41FA5}">
                      <a16:colId xmlns:a16="http://schemas.microsoft.com/office/drawing/2014/main" val="2717438185"/>
                    </a:ext>
                  </a:extLst>
                </a:gridCol>
                <a:gridCol w="3224106">
                  <a:extLst>
                    <a:ext uri="{9D8B030D-6E8A-4147-A177-3AD203B41FA5}">
                      <a16:colId xmlns:a16="http://schemas.microsoft.com/office/drawing/2014/main" val="3178896046"/>
                    </a:ext>
                  </a:extLst>
                </a:gridCol>
                <a:gridCol w="3224106">
                  <a:extLst>
                    <a:ext uri="{9D8B030D-6E8A-4147-A177-3AD203B41FA5}">
                      <a16:colId xmlns:a16="http://schemas.microsoft.com/office/drawing/2014/main" val="37016387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Scenario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OAuth Flow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Audience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13905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Single-paged 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Auth code with PKCE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Work or school accounts, personal, B2C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31844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Web 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Auth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Same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22512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Web app that calls web APIs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Auth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Same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47928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Desktop app that calls web APIs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Auth code with PKCE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Same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9940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Mobile app that calls web APIs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Auth code with PKCE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Same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38723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Web API that calls web APIs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On-behalf-of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Work or school accounts, personal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5690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Daemon app that calls web APIs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Client credentials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App-only permissions that have no user, only inside Entra ID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49473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996644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3464D-9912-B6F1-D2B1-A470048B9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authorize?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8C18EE-1037-F9FD-CA0F-06D267EAB5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8AF397-029F-963F-57BA-9E06FB4C0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@</a:t>
            </a:r>
            <a:r>
              <a:rPr lang="en-US" dirty="0" err="1"/>
              <a:t>jimmybogard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29430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7F3EE37-B819-498B-20CC-F141EAB0B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Authorization Options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2DDC39D-2418-7B47-936D-907C7CB0DD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Access Control Lists (ACLs)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2D40252-FAD1-6186-FD7B-70A9C2C7F10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Server application checks claims</a:t>
            </a:r>
          </a:p>
          <a:p>
            <a:pPr lvl="1"/>
            <a:r>
              <a:rPr lang="en-US" dirty="0"/>
              <a:t>Issuer</a:t>
            </a:r>
          </a:p>
          <a:p>
            <a:pPr lvl="1"/>
            <a:r>
              <a:rPr lang="en-US" dirty="0"/>
              <a:t>Caller application ID</a:t>
            </a:r>
          </a:p>
          <a:p>
            <a:r>
              <a:rPr lang="en-US" dirty="0"/>
              <a:t>Performs custom logic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ACDAA12-4B01-498C-50E8-F6C60F3082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Application Permissions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7870D74-3086-3DD5-008B-D011B140155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Define custom roles</a:t>
            </a:r>
          </a:p>
          <a:p>
            <a:r>
              <a:rPr lang="en-US" dirty="0"/>
              <a:t>Assign roles to server principals</a:t>
            </a:r>
          </a:p>
          <a:p>
            <a:r>
              <a:rPr lang="en-US" dirty="0"/>
              <a:t>Token contains roles in a claim</a:t>
            </a:r>
          </a:p>
          <a:p>
            <a:r>
              <a:rPr lang="en-US" dirty="0"/>
              <a:t>Server authorizes roles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239015-0290-BFB5-C091-BDE142B9CE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@</a:t>
            </a:r>
            <a:r>
              <a:rPr lang="en-US" dirty="0" err="1"/>
              <a:t>jimmybogard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57486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8BF3B612-643B-FE43-075E-82363541B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Simplified App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C998AE5-65CE-7F64-344E-1DD3C3DAB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@</a:t>
            </a:r>
            <a:r>
              <a:rPr lang="en-US" dirty="0" err="1"/>
              <a:t>jimmybogard</a:t>
            </a:r>
            <a:endParaRPr lang="en-US" dirty="0"/>
          </a:p>
        </p:txBody>
      </p:sp>
      <p:pic>
        <p:nvPicPr>
          <p:cNvPr id="24" name="Graphic 23">
            <a:extLst>
              <a:ext uri="{FF2B5EF4-FFF2-40B4-BE49-F238E27FC236}">
                <a16:creationId xmlns:a16="http://schemas.microsoft.com/office/drawing/2014/main" id="{624972A5-6D70-0B10-9138-50B656F6D2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87284" y="4925553"/>
            <a:ext cx="542925" cy="542925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22498A39-6DC5-157E-78F0-647A8BE394D1}"/>
              </a:ext>
            </a:extLst>
          </p:cNvPr>
          <p:cNvSpPr/>
          <p:nvPr/>
        </p:nvSpPr>
        <p:spPr>
          <a:xfrm>
            <a:off x="1170431" y="1607086"/>
            <a:ext cx="5019185" cy="4548133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r>
              <a:rPr lang="en-US" dirty="0"/>
              <a:t>Azure</a:t>
            </a:r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FAA67B03-8969-D493-2555-5921F3AFC6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24663" y="2615233"/>
            <a:ext cx="542925" cy="542925"/>
          </a:xfrm>
          <a:prstGeom prst="rect">
            <a:avLst/>
          </a:prstGeom>
        </p:spPr>
      </p:pic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BD73012B-6D81-4C38-8679-15633B843F41}"/>
              </a:ext>
            </a:extLst>
          </p:cNvPr>
          <p:cNvCxnSpPr>
            <a:cxnSpLocks/>
            <a:stCxn id="24" idx="0"/>
            <a:endCxn id="26" idx="2"/>
          </p:cNvCxnSpPr>
          <p:nvPr/>
        </p:nvCxnSpPr>
        <p:spPr>
          <a:xfrm rot="16200000" flipV="1">
            <a:off x="2743740" y="2810545"/>
            <a:ext cx="1767395" cy="2462621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0676886E-01DE-D8F9-07FD-4D92271A1BF0}"/>
              </a:ext>
            </a:extLst>
          </p:cNvPr>
          <p:cNvSpPr/>
          <p:nvPr/>
        </p:nvSpPr>
        <p:spPr>
          <a:xfrm>
            <a:off x="7037370" y="1607086"/>
            <a:ext cx="2589624" cy="4548133"/>
          </a:xfrm>
          <a:prstGeom prst="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r>
              <a:rPr lang="en-US" dirty="0"/>
              <a:t>Laptop</a:t>
            </a:r>
          </a:p>
        </p:txBody>
      </p:sp>
      <p:pic>
        <p:nvPicPr>
          <p:cNvPr id="29" name="Graphic 28">
            <a:extLst>
              <a:ext uri="{FF2B5EF4-FFF2-40B4-BE49-F238E27FC236}">
                <a16:creationId xmlns:a16="http://schemas.microsoft.com/office/drawing/2014/main" id="{C58ACFFA-842F-38A6-80C1-077A1CC07FE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42284" y="2284784"/>
            <a:ext cx="559756" cy="559756"/>
          </a:xfrm>
          <a:prstGeom prst="rect">
            <a:avLst/>
          </a:prstGeom>
        </p:spPr>
      </p:pic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68E98453-0D38-5218-1D15-69D8F4727AF8}"/>
              </a:ext>
            </a:extLst>
          </p:cNvPr>
          <p:cNvCxnSpPr>
            <a:cxnSpLocks/>
            <a:stCxn id="29" idx="1"/>
            <a:endCxn id="26" idx="3"/>
          </p:cNvCxnSpPr>
          <p:nvPr/>
        </p:nvCxnSpPr>
        <p:spPr>
          <a:xfrm rot="10800000" flipV="1">
            <a:off x="2667588" y="2564662"/>
            <a:ext cx="5374696" cy="322034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3096E335-B295-7DB9-2D53-84625ABFDA8E}"/>
              </a:ext>
            </a:extLst>
          </p:cNvPr>
          <p:cNvSpPr txBox="1"/>
          <p:nvPr/>
        </p:nvSpPr>
        <p:spPr>
          <a:xfrm>
            <a:off x="1900826" y="2242646"/>
            <a:ext cx="1077506" cy="3725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Server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ADDC1BC-B6E1-8D52-A34E-426A520BE430}"/>
              </a:ext>
            </a:extLst>
          </p:cNvPr>
          <p:cNvSpPr txBox="1"/>
          <p:nvPr/>
        </p:nvSpPr>
        <p:spPr>
          <a:xfrm>
            <a:off x="4286193" y="5500085"/>
            <a:ext cx="11451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Azure Client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E0FB15A-D330-E483-93D0-FF56142221FF}"/>
              </a:ext>
            </a:extLst>
          </p:cNvPr>
          <p:cNvSpPr txBox="1"/>
          <p:nvPr/>
        </p:nvSpPr>
        <p:spPr>
          <a:xfrm>
            <a:off x="7570189" y="2886695"/>
            <a:ext cx="15039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External Client</a:t>
            </a:r>
          </a:p>
        </p:txBody>
      </p:sp>
      <p:pic>
        <p:nvPicPr>
          <p:cNvPr id="34" name="Picture 2">
            <a:extLst>
              <a:ext uri="{FF2B5EF4-FFF2-40B4-BE49-F238E27FC236}">
                <a16:creationId xmlns:a16="http://schemas.microsoft.com/office/drawing/2014/main" id="{FAA3901E-BDD6-7187-CDD2-9D9035C6B8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3662" y="4289384"/>
            <a:ext cx="533400" cy="53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FBD76AAF-F10D-B7AE-3186-7318A2D1CB11}"/>
              </a:ext>
            </a:extLst>
          </p:cNvPr>
          <p:cNvCxnSpPr>
            <a:cxnSpLocks/>
            <a:stCxn id="34" idx="1"/>
            <a:endCxn id="24" idx="3"/>
          </p:cNvCxnSpPr>
          <p:nvPr/>
        </p:nvCxnSpPr>
        <p:spPr>
          <a:xfrm rot="10800000" flipV="1">
            <a:off x="5130210" y="4556084"/>
            <a:ext cx="2883453" cy="640932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088E1742-3408-1D9A-8CB8-2F49CBFBE2B5}"/>
              </a:ext>
            </a:extLst>
          </p:cNvPr>
          <p:cNvSpPr txBox="1"/>
          <p:nvPr/>
        </p:nvSpPr>
        <p:spPr>
          <a:xfrm>
            <a:off x="7689789" y="4930122"/>
            <a:ext cx="1171623" cy="3725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Browser</a:t>
            </a:r>
          </a:p>
        </p:txBody>
      </p:sp>
    </p:spTree>
    <p:extLst>
      <p:ext uri="{BB962C8B-B14F-4D97-AF65-F5344CB8AC3E}">
        <p14:creationId xmlns:p14="http://schemas.microsoft.com/office/powerpoint/2010/main" val="12762201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3464D-9912-B6F1-D2B1-A470048B9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Roles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8C18EE-1037-F9FD-CA0F-06D267EAB5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8AF397-029F-963F-57BA-9E06FB4C0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@</a:t>
            </a:r>
            <a:r>
              <a:rPr lang="en-US" dirty="0" err="1"/>
              <a:t>jimmybogard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49437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2FA22-2ECA-0409-6F86-3C0600FBE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API Endpoints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B6BBB490-FB3C-1846-EEE6-E1A6976324F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01717281"/>
              </p:ext>
            </p:extLst>
          </p:nvPr>
        </p:nvGraphicFramePr>
        <p:xfrm>
          <a:off x="838200" y="2510118"/>
          <a:ext cx="10782518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4410">
                  <a:extLst>
                    <a:ext uri="{9D8B030D-6E8A-4147-A177-3AD203B41FA5}">
                      <a16:colId xmlns:a16="http://schemas.microsoft.com/office/drawing/2014/main" val="2204452137"/>
                    </a:ext>
                  </a:extLst>
                </a:gridCol>
                <a:gridCol w="5758108">
                  <a:extLst>
                    <a:ext uri="{9D8B030D-6E8A-4147-A177-3AD203B41FA5}">
                      <a16:colId xmlns:a16="http://schemas.microsoft.com/office/drawing/2014/main" val="26132193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Endpoint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8608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GET /</a:t>
                      </a:r>
                      <a:r>
                        <a:rPr lang="en-US" sz="2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api</a:t>
                      </a:r>
                      <a:r>
                        <a:rPr lang="en-US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en-US" sz="2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todoitems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retrieves all </a:t>
                      </a:r>
                      <a:r>
                        <a:rPr lang="en-US" sz="2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Todo</a:t>
                      </a:r>
                      <a:r>
                        <a:rPr lang="en-US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items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41728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GET /</a:t>
                      </a:r>
                      <a:r>
                        <a:rPr lang="en-US" sz="2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api</a:t>
                      </a:r>
                      <a:r>
                        <a:rPr lang="en-US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en-US" sz="2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todoitems</a:t>
                      </a:r>
                      <a:r>
                        <a:rPr lang="en-US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/{id}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retrieves a single Todo item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00147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PUT /</a:t>
                      </a:r>
                      <a:r>
                        <a:rPr lang="en-US" sz="2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api</a:t>
                      </a:r>
                      <a:r>
                        <a:rPr lang="en-US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en-US" sz="2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todoitems</a:t>
                      </a:r>
                      <a:r>
                        <a:rPr lang="en-US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/{id}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updates a single Todo item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5352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POST /</a:t>
                      </a:r>
                      <a:r>
                        <a:rPr lang="en-US" sz="2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api</a:t>
                      </a:r>
                      <a:r>
                        <a:rPr lang="en-US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en-US" sz="2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todoitems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creates a single </a:t>
                      </a:r>
                      <a:r>
                        <a:rPr lang="en-US" sz="2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Todo</a:t>
                      </a:r>
                      <a:r>
                        <a:rPr lang="en-US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item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70442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DELETE /</a:t>
                      </a:r>
                      <a:r>
                        <a:rPr lang="en-US" sz="2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api</a:t>
                      </a:r>
                      <a:r>
                        <a:rPr lang="en-US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en-US" sz="2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todoitems</a:t>
                      </a:r>
                      <a:r>
                        <a:rPr lang="en-US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/{id}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deletes a single Todo item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8253465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120686-C307-1CBC-F172-FAA0AD8F2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@</a:t>
            </a:r>
            <a:r>
              <a:rPr lang="en-US" dirty="0" err="1"/>
              <a:t>jimmybogard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11568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2FA22-2ECA-0409-6F86-3C0600FBE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Mapping Roles (Permissions)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B6BBB490-FB3C-1846-EEE6-E1A6976324F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1291209"/>
              </p:ext>
            </p:extLst>
          </p:nvPr>
        </p:nvGraphicFramePr>
        <p:xfrm>
          <a:off x="838200" y="2510118"/>
          <a:ext cx="10782518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4410">
                  <a:extLst>
                    <a:ext uri="{9D8B030D-6E8A-4147-A177-3AD203B41FA5}">
                      <a16:colId xmlns:a16="http://schemas.microsoft.com/office/drawing/2014/main" val="2204452137"/>
                    </a:ext>
                  </a:extLst>
                </a:gridCol>
                <a:gridCol w="5758108">
                  <a:extLst>
                    <a:ext uri="{9D8B030D-6E8A-4147-A177-3AD203B41FA5}">
                      <a16:colId xmlns:a16="http://schemas.microsoft.com/office/drawing/2014/main" val="26132193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Endpoint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Role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8608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GET /</a:t>
                      </a:r>
                      <a:r>
                        <a:rPr lang="en-US" sz="2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api</a:t>
                      </a:r>
                      <a:r>
                        <a:rPr lang="en-US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en-US" sz="2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todoitems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Todo.Read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41728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GET /</a:t>
                      </a:r>
                      <a:r>
                        <a:rPr lang="en-US" sz="2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api</a:t>
                      </a:r>
                      <a:r>
                        <a:rPr lang="en-US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en-US" sz="2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todoitems</a:t>
                      </a:r>
                      <a:r>
                        <a:rPr lang="en-US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/{id}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Todo.Read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00147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PUT /</a:t>
                      </a:r>
                      <a:r>
                        <a:rPr lang="en-US" sz="2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api</a:t>
                      </a:r>
                      <a:r>
                        <a:rPr lang="en-US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en-US" sz="2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todoitems</a:t>
                      </a:r>
                      <a:r>
                        <a:rPr lang="en-US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/{id}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Todo.Update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5352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POST /</a:t>
                      </a:r>
                      <a:r>
                        <a:rPr lang="en-US" sz="2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api</a:t>
                      </a:r>
                      <a:r>
                        <a:rPr lang="en-US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en-US" sz="2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todoitems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Todo.Create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70442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DELETE /</a:t>
                      </a:r>
                      <a:r>
                        <a:rPr lang="en-US" sz="2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api</a:t>
                      </a:r>
                      <a:r>
                        <a:rPr lang="en-US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en-US" sz="2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todoitems</a:t>
                      </a:r>
                      <a:r>
                        <a:rPr lang="en-US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/{id}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Todo.Delete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8253465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120686-C307-1CBC-F172-FAA0AD8F2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@</a:t>
            </a:r>
            <a:r>
              <a:rPr lang="en-US" dirty="0" err="1"/>
              <a:t>jimmybogard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4319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2FA22-2ECA-0409-6F86-3C0600FBE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Mapping Roles (Permissions)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B6BBB490-FB3C-1846-EEE6-E1A6976324F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53325850"/>
              </p:ext>
            </p:extLst>
          </p:nvPr>
        </p:nvGraphicFramePr>
        <p:xfrm>
          <a:off x="838200" y="2510118"/>
          <a:ext cx="10782518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4410">
                  <a:extLst>
                    <a:ext uri="{9D8B030D-6E8A-4147-A177-3AD203B41FA5}">
                      <a16:colId xmlns:a16="http://schemas.microsoft.com/office/drawing/2014/main" val="2204452137"/>
                    </a:ext>
                  </a:extLst>
                </a:gridCol>
                <a:gridCol w="5758108">
                  <a:extLst>
                    <a:ext uri="{9D8B030D-6E8A-4147-A177-3AD203B41FA5}">
                      <a16:colId xmlns:a16="http://schemas.microsoft.com/office/drawing/2014/main" val="26132193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Endpoint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Role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8608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GET /</a:t>
                      </a:r>
                      <a:r>
                        <a:rPr lang="en-US" sz="2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api</a:t>
                      </a:r>
                      <a:r>
                        <a:rPr lang="en-US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en-US" sz="2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todoitems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Todo.Read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41728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GET /</a:t>
                      </a:r>
                      <a:r>
                        <a:rPr lang="en-US" sz="2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api</a:t>
                      </a:r>
                      <a:r>
                        <a:rPr lang="en-US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en-US" sz="2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todoitems</a:t>
                      </a:r>
                      <a:r>
                        <a:rPr lang="en-US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/{id}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Todo.Read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00147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PUT /</a:t>
                      </a:r>
                      <a:r>
                        <a:rPr lang="en-US" sz="2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api</a:t>
                      </a:r>
                      <a:r>
                        <a:rPr lang="en-US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en-US" sz="2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todoitems</a:t>
                      </a:r>
                      <a:r>
                        <a:rPr lang="en-US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/{id}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Todo.Write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5352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POST /</a:t>
                      </a:r>
                      <a:r>
                        <a:rPr lang="en-US" sz="2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api</a:t>
                      </a:r>
                      <a:r>
                        <a:rPr lang="en-US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en-US" sz="2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todoitems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Todo.Write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70442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DELETE /</a:t>
                      </a:r>
                      <a:r>
                        <a:rPr lang="en-US" sz="2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api</a:t>
                      </a:r>
                      <a:r>
                        <a:rPr lang="en-US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en-US" sz="2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todoitems</a:t>
                      </a:r>
                      <a:r>
                        <a:rPr lang="en-US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/{id}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Todo.Write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8253465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120686-C307-1CBC-F172-FAA0AD8F2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@</a:t>
            </a:r>
            <a:r>
              <a:rPr lang="en-US" dirty="0" err="1"/>
              <a:t>jimmybogard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52915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8BF3B612-643B-FE43-075E-82363541B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C998AE5-65CE-7F64-344E-1DD3C3DAB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@</a:t>
            </a:r>
            <a:r>
              <a:rPr lang="en-US" dirty="0" err="1"/>
              <a:t>jimmybogard</a:t>
            </a:r>
            <a:endParaRPr lang="en-US" dirty="0"/>
          </a:p>
        </p:txBody>
      </p:sp>
      <p:pic>
        <p:nvPicPr>
          <p:cNvPr id="24" name="Graphic 23">
            <a:extLst>
              <a:ext uri="{FF2B5EF4-FFF2-40B4-BE49-F238E27FC236}">
                <a16:creationId xmlns:a16="http://schemas.microsoft.com/office/drawing/2014/main" id="{624972A5-6D70-0B10-9138-50B656F6D2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87284" y="4925553"/>
            <a:ext cx="542925" cy="542925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22498A39-6DC5-157E-78F0-647A8BE394D1}"/>
              </a:ext>
            </a:extLst>
          </p:cNvPr>
          <p:cNvSpPr/>
          <p:nvPr/>
        </p:nvSpPr>
        <p:spPr>
          <a:xfrm>
            <a:off x="1170431" y="1607086"/>
            <a:ext cx="5019185" cy="4548133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r>
              <a:rPr lang="en-US" dirty="0"/>
              <a:t>Azure</a:t>
            </a:r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FAA67B03-8969-D493-2555-5921F3AFC6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24663" y="2615233"/>
            <a:ext cx="542925" cy="542925"/>
          </a:xfrm>
          <a:prstGeom prst="rect">
            <a:avLst/>
          </a:prstGeom>
        </p:spPr>
      </p:pic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BD73012B-6D81-4C38-8679-15633B843F41}"/>
              </a:ext>
            </a:extLst>
          </p:cNvPr>
          <p:cNvCxnSpPr>
            <a:cxnSpLocks/>
            <a:stCxn id="24" idx="0"/>
            <a:endCxn id="26" idx="2"/>
          </p:cNvCxnSpPr>
          <p:nvPr/>
        </p:nvCxnSpPr>
        <p:spPr>
          <a:xfrm rot="16200000" flipV="1">
            <a:off x="2743740" y="2810545"/>
            <a:ext cx="1767395" cy="2462621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0676886E-01DE-D8F9-07FD-4D92271A1BF0}"/>
              </a:ext>
            </a:extLst>
          </p:cNvPr>
          <p:cNvSpPr/>
          <p:nvPr/>
        </p:nvSpPr>
        <p:spPr>
          <a:xfrm>
            <a:off x="7037370" y="1607086"/>
            <a:ext cx="2589624" cy="4548133"/>
          </a:xfrm>
          <a:prstGeom prst="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r>
              <a:rPr lang="en-US" dirty="0"/>
              <a:t>Laptop</a:t>
            </a:r>
          </a:p>
        </p:txBody>
      </p:sp>
      <p:pic>
        <p:nvPicPr>
          <p:cNvPr id="29" name="Graphic 28">
            <a:extLst>
              <a:ext uri="{FF2B5EF4-FFF2-40B4-BE49-F238E27FC236}">
                <a16:creationId xmlns:a16="http://schemas.microsoft.com/office/drawing/2014/main" id="{C58ACFFA-842F-38A6-80C1-077A1CC07FE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42284" y="2284784"/>
            <a:ext cx="559756" cy="559756"/>
          </a:xfrm>
          <a:prstGeom prst="rect">
            <a:avLst/>
          </a:prstGeom>
        </p:spPr>
      </p:pic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68E98453-0D38-5218-1D15-69D8F4727AF8}"/>
              </a:ext>
            </a:extLst>
          </p:cNvPr>
          <p:cNvCxnSpPr>
            <a:cxnSpLocks/>
            <a:stCxn id="29" idx="1"/>
            <a:endCxn id="26" idx="3"/>
          </p:cNvCxnSpPr>
          <p:nvPr/>
        </p:nvCxnSpPr>
        <p:spPr>
          <a:xfrm rot="10800000" flipV="1">
            <a:off x="2667588" y="2564662"/>
            <a:ext cx="5374696" cy="322034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3096E335-B295-7DB9-2D53-84625ABFDA8E}"/>
              </a:ext>
            </a:extLst>
          </p:cNvPr>
          <p:cNvSpPr txBox="1"/>
          <p:nvPr/>
        </p:nvSpPr>
        <p:spPr>
          <a:xfrm>
            <a:off x="1900826" y="2242646"/>
            <a:ext cx="1077506" cy="3725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Server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ADDC1BC-B6E1-8D52-A34E-426A520BE430}"/>
              </a:ext>
            </a:extLst>
          </p:cNvPr>
          <p:cNvSpPr txBox="1"/>
          <p:nvPr/>
        </p:nvSpPr>
        <p:spPr>
          <a:xfrm>
            <a:off x="4286193" y="5500085"/>
            <a:ext cx="11451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Azure Client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E0FB15A-D330-E483-93D0-FF56142221FF}"/>
              </a:ext>
            </a:extLst>
          </p:cNvPr>
          <p:cNvSpPr txBox="1"/>
          <p:nvPr/>
        </p:nvSpPr>
        <p:spPr>
          <a:xfrm>
            <a:off x="7570189" y="2886695"/>
            <a:ext cx="15039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External Client</a:t>
            </a:r>
          </a:p>
        </p:txBody>
      </p:sp>
      <p:pic>
        <p:nvPicPr>
          <p:cNvPr id="34" name="Picture 2">
            <a:extLst>
              <a:ext uri="{FF2B5EF4-FFF2-40B4-BE49-F238E27FC236}">
                <a16:creationId xmlns:a16="http://schemas.microsoft.com/office/drawing/2014/main" id="{FAA3901E-BDD6-7187-CDD2-9D9035C6B8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3662" y="4289384"/>
            <a:ext cx="533400" cy="53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FBD76AAF-F10D-B7AE-3186-7318A2D1CB11}"/>
              </a:ext>
            </a:extLst>
          </p:cNvPr>
          <p:cNvCxnSpPr>
            <a:cxnSpLocks/>
            <a:stCxn id="34" idx="1"/>
            <a:endCxn id="24" idx="3"/>
          </p:cNvCxnSpPr>
          <p:nvPr/>
        </p:nvCxnSpPr>
        <p:spPr>
          <a:xfrm rot="10800000" flipV="1">
            <a:off x="5130210" y="4556084"/>
            <a:ext cx="2883453" cy="640932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088E1742-3408-1D9A-8CB8-2F49CBFBE2B5}"/>
              </a:ext>
            </a:extLst>
          </p:cNvPr>
          <p:cNvSpPr txBox="1"/>
          <p:nvPr/>
        </p:nvSpPr>
        <p:spPr>
          <a:xfrm>
            <a:off x="7689789" y="4930122"/>
            <a:ext cx="1171623" cy="3725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Browser</a:t>
            </a:r>
          </a:p>
        </p:txBody>
      </p:sp>
    </p:spTree>
    <p:extLst>
      <p:ext uri="{BB962C8B-B14F-4D97-AF65-F5344CB8AC3E}">
        <p14:creationId xmlns:p14="http://schemas.microsoft.com/office/powerpoint/2010/main" val="38671684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759392" y="247431"/>
            <a:ext cx="8691327" cy="2387600"/>
          </a:xfrm>
        </p:spPr>
        <p:txBody>
          <a:bodyPr anchor="ctr">
            <a:noAutofit/>
          </a:bodyPr>
          <a:lstStyle/>
          <a:p>
            <a:r>
              <a:rPr lang="en-US" sz="6000">
                <a:solidFill>
                  <a:prstClr val="black"/>
                </a:solidFill>
              </a:rPr>
              <a:t>Demystifying Web API Security in Azure</a:t>
            </a:r>
            <a:endParaRPr lang="en-US" sz="4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2676055" y="3188072"/>
            <a:ext cx="6858000" cy="309280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Jimmy Bogard</a:t>
            </a:r>
          </a:p>
          <a:p>
            <a:r>
              <a:rPr lang="en-US" dirty="0"/>
              <a:t>@</a:t>
            </a:r>
            <a:r>
              <a:rPr lang="en-US" dirty="0" err="1"/>
              <a:t>jimmybogard</a:t>
            </a:r>
            <a:endParaRPr lang="en-US" dirty="0"/>
          </a:p>
          <a:p>
            <a:r>
              <a:rPr lang="en-US" dirty="0"/>
              <a:t>github.com/</a:t>
            </a:r>
            <a:r>
              <a:rPr lang="en-US" dirty="0" err="1"/>
              <a:t>jbogard</a:t>
            </a:r>
            <a:endParaRPr lang="en-US" dirty="0"/>
          </a:p>
          <a:p>
            <a:r>
              <a:rPr lang="en-US" dirty="0"/>
              <a:t>jimmybogard.com</a:t>
            </a:r>
          </a:p>
          <a:p>
            <a:endParaRPr lang="en-US" dirty="0"/>
          </a:p>
          <a:p>
            <a:r>
              <a:rPr lang="en-US" dirty="0"/>
              <a:t>github.com/jbogard/presentations</a:t>
            </a:r>
          </a:p>
          <a:p>
            <a:r>
              <a:rPr lang="en-US" dirty="0"/>
              <a:t>github.com/jbogard/</a:t>
            </a:r>
            <a:r>
              <a:rPr lang="en-US" dirty="0" err="1"/>
              <a:t>AzureAdExample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9652561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ULJKTtTuA1JYcmiIHNUWnZ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0el361ATYxVn7CIhxUw3rP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9GXR3BK6E2EUKvoPmRUH3b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ULJKTtTuA1JYcmiIHNUWnZ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0el361ATYxVn7CIhxUw3rP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9GXR3BK6E2EUKvoPmRUH3b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Lucida Console">
      <a:majorFont>
        <a:latin typeface="Lucida Console"/>
        <a:ea typeface=""/>
        <a:cs typeface=""/>
      </a:majorFont>
      <a:minorFont>
        <a:latin typeface="Lucida Consol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24082</TotalTime>
  <Words>737</Words>
  <Application>Microsoft Macintosh PowerPoint</Application>
  <PresentationFormat>Widescreen</PresentationFormat>
  <Paragraphs>249</Paragraphs>
  <Slides>26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Arial</vt:lpstr>
      <vt:lpstr>Calibri</vt:lpstr>
      <vt:lpstr>Lucida Console</vt:lpstr>
      <vt:lpstr>Office Theme</vt:lpstr>
      <vt:lpstr>Demystifying Web API Security in Azure</vt:lpstr>
      <vt:lpstr>A simpler time…</vt:lpstr>
      <vt:lpstr>Client-Server</vt:lpstr>
      <vt:lpstr>Client-Server</vt:lpstr>
      <vt:lpstr>Client-Server</vt:lpstr>
      <vt:lpstr>Simplifying via Microservices</vt:lpstr>
      <vt:lpstr>Distributed Complexity</vt:lpstr>
      <vt:lpstr>How to Authenticate and Authorize external users?</vt:lpstr>
      <vt:lpstr>External Identity Provider</vt:lpstr>
      <vt:lpstr>Unanswered questions</vt:lpstr>
      <vt:lpstr>“Zero Trust” model</vt:lpstr>
      <vt:lpstr>Flow user token?</vt:lpstr>
      <vt:lpstr>Solution: Microsoft Entra ID</vt:lpstr>
      <vt:lpstr>How to authenticate?</vt:lpstr>
      <vt:lpstr>Entra ID OAuth 2.0 flows</vt:lpstr>
      <vt:lpstr>Entra ID OAuth 2.0 flows</vt:lpstr>
      <vt:lpstr>Entra ID OAuth 2.0 flows</vt:lpstr>
      <vt:lpstr>How to authorize?</vt:lpstr>
      <vt:lpstr>Authorization Options</vt:lpstr>
      <vt:lpstr>Simplified App</vt:lpstr>
      <vt:lpstr>Defining Roles</vt:lpstr>
      <vt:lpstr>API Endpoints</vt:lpstr>
      <vt:lpstr>Mapping Roles (Permissions)</vt:lpstr>
      <vt:lpstr>Mapping Roles (Permissions)</vt:lpstr>
      <vt:lpstr>Demo</vt:lpstr>
      <vt:lpstr>Demystifying Web API Security in Azure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Conventionally Speaking</dc:title>
  <dc:creator>James Bogard</dc:creator>
  <cp:lastModifiedBy>Jimmy Bogard</cp:lastModifiedBy>
  <cp:revision>228</cp:revision>
  <dcterms:created xsi:type="dcterms:W3CDTF">2014-12-03T11:14:03Z</dcterms:created>
  <dcterms:modified xsi:type="dcterms:W3CDTF">2025-10-15T10:39:21Z</dcterms:modified>
</cp:coreProperties>
</file>